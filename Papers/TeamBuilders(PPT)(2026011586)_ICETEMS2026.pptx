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ambria Bold" charset="1" panose="02040803050406030204"/>
      <p:regular r:id="rId13"/>
    </p:embeddedFont>
    <p:embeddedFont>
      <p:font typeface="Canva Sans Bold" charset="1" panose="020B0803030501040103"/>
      <p:regular r:id="rId14"/>
    </p:embeddedFont>
    <p:embeddedFont>
      <p:font typeface="Canva Sans" charset="1" panose="020B0503030501040103"/>
      <p:regular r:id="rId15"/>
    </p:embeddedFont>
    <p:embeddedFont>
      <p:font typeface="Canva Sans Bold Italics" charset="1" panose="020B08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46149" y="-1220928"/>
            <a:ext cx="13716000" cy="6157348"/>
            <a:chOff x="0" y="0"/>
            <a:chExt cx="18288000" cy="8209798"/>
          </a:xfrm>
        </p:grpSpPr>
        <p:sp>
          <p:nvSpPr>
            <p:cNvPr name="Freeform 3" id="3"/>
            <p:cNvSpPr/>
            <p:nvPr/>
          </p:nvSpPr>
          <p:spPr>
            <a:xfrm flipH="false" flipV="false" rot="0">
              <a:off x="0" y="0"/>
              <a:ext cx="18288000" cy="8209795"/>
            </a:xfrm>
            <a:custGeom>
              <a:avLst/>
              <a:gdLst/>
              <a:ahLst/>
              <a:cxnLst/>
              <a:rect r="r" b="b" t="t" l="l"/>
              <a:pathLst>
                <a:path h="8209795" w="18288000">
                  <a:moveTo>
                    <a:pt x="0" y="0"/>
                  </a:moveTo>
                  <a:lnTo>
                    <a:pt x="18288000" y="0"/>
                  </a:lnTo>
                  <a:lnTo>
                    <a:pt x="18288000" y="8209795"/>
                  </a:lnTo>
                  <a:lnTo>
                    <a:pt x="0" y="8209795"/>
                  </a:lnTo>
                  <a:close/>
                </a:path>
              </a:pathLst>
            </a:custGeom>
            <a:blipFill>
              <a:blip r:embed="rId2">
                <a:alphaModFix amt="0"/>
              </a:blip>
              <a:stretch>
                <a:fillRect l="0" t="-17017" r="0" b="30208"/>
              </a:stretch>
            </a:blipFill>
          </p:spPr>
        </p:sp>
        <p:sp>
          <p:nvSpPr>
            <p:cNvPr name="TextBox 4" id="4"/>
            <p:cNvSpPr txBox="true"/>
            <p:nvPr/>
          </p:nvSpPr>
          <p:spPr>
            <a:xfrm>
              <a:off x="0" y="47625"/>
              <a:ext cx="18288000" cy="8162173"/>
            </a:xfrm>
            <a:prstGeom prst="rect">
              <a:avLst/>
            </a:prstGeom>
          </p:spPr>
          <p:txBody>
            <a:bodyPr anchor="b" rtlCol="false" tIns="0" lIns="0" bIns="0" rIns="0"/>
            <a:lstStyle/>
            <a:p>
              <a:pPr algn="ctr">
                <a:lnSpc>
                  <a:spcPts val="5832"/>
                </a:lnSpc>
              </a:pPr>
              <a:r>
                <a:rPr lang="en-US" sz="5400" b="true">
                  <a:solidFill>
                    <a:srgbClr val="C00000"/>
                  </a:solidFill>
                  <a:latin typeface="Cambria Bold"/>
                  <a:ea typeface="Cambria Bold"/>
                  <a:cs typeface="Cambria Bold"/>
                  <a:sym typeface="Cambria Bold"/>
                </a:rPr>
                <a:t>2026 3ʳᵈ International Conference on Emerging Trends in Engineering and Medical Sciences </a:t>
              </a:r>
            </a:p>
            <a:p>
              <a:pPr algn="ctr">
                <a:lnSpc>
                  <a:spcPts val="5832"/>
                </a:lnSpc>
              </a:pPr>
              <a:r>
                <a:rPr lang="en-US" sz="5400" b="true">
                  <a:solidFill>
                    <a:srgbClr val="00B050"/>
                  </a:solidFill>
                  <a:latin typeface="Cambria Bold"/>
                  <a:ea typeface="Cambria Bold"/>
                  <a:cs typeface="Cambria Bold"/>
                  <a:sym typeface="Cambria Bold"/>
                </a:rPr>
                <a:t>(ICETEMS 2026)</a:t>
              </a:r>
            </a:p>
          </p:txBody>
        </p:sp>
      </p:grpSp>
      <p:sp>
        <p:nvSpPr>
          <p:cNvPr name="TextBox 5" id="5"/>
          <p:cNvSpPr txBox="true"/>
          <p:nvPr/>
        </p:nvSpPr>
        <p:spPr>
          <a:xfrm rot="0">
            <a:off x="747270" y="3962648"/>
            <a:ext cx="16340442" cy="5618607"/>
          </a:xfrm>
          <a:prstGeom prst="rect">
            <a:avLst/>
          </a:prstGeom>
        </p:spPr>
        <p:txBody>
          <a:bodyPr anchor="t" rtlCol="false" tIns="0" lIns="0" bIns="0" rIns="0">
            <a:spAutoFit/>
          </a:bodyPr>
          <a:lstStyle/>
          <a:p>
            <a:pPr algn="ctr">
              <a:lnSpc>
                <a:spcPts val="5400"/>
              </a:lnSpc>
            </a:pPr>
            <a:r>
              <a:rPr lang="en-US" b="true" sz="4500" spc="-1">
                <a:solidFill>
                  <a:srgbClr val="4C4C4C"/>
                </a:solidFill>
                <a:latin typeface="Cambria Bold"/>
                <a:ea typeface="Cambria Bold"/>
                <a:cs typeface="Cambria Bold"/>
                <a:sym typeface="Cambria Bold"/>
              </a:rPr>
              <a:t> AI-Based Intelligent Hackathon Team Formation Through TF-IDF Factorization, Collaborative Filtering, and Graph Neural Network Modeling</a:t>
            </a:r>
          </a:p>
          <a:p>
            <a:pPr algn="ctr">
              <a:lnSpc>
                <a:spcPts val="4320"/>
              </a:lnSpc>
            </a:pPr>
          </a:p>
          <a:p>
            <a:pPr algn="ctr">
              <a:lnSpc>
                <a:spcPts val="4320"/>
              </a:lnSpc>
            </a:pPr>
            <a:r>
              <a:rPr lang="en-US" b="true" sz="3600" spc="-1">
                <a:solidFill>
                  <a:srgbClr val="4C4C4C"/>
                </a:solidFill>
                <a:latin typeface="Cambria Bold"/>
                <a:ea typeface="Cambria Bold"/>
                <a:cs typeface="Cambria Bold"/>
                <a:sym typeface="Cambria Bold"/>
              </a:rPr>
              <a:t>Paper ID: 822</a:t>
            </a:r>
          </a:p>
          <a:p>
            <a:pPr algn="ctr">
              <a:lnSpc>
                <a:spcPts val="3888"/>
              </a:lnSpc>
            </a:pPr>
            <a:r>
              <a:rPr lang="en-US" b="true" sz="3600" spc="-1">
                <a:solidFill>
                  <a:srgbClr val="4C4C4C"/>
                </a:solidFill>
                <a:latin typeface="Cambria Bold"/>
                <a:ea typeface="Cambria Bold"/>
                <a:cs typeface="Cambria Bold"/>
                <a:sym typeface="Cambria Bold"/>
              </a:rPr>
              <a:t>PRACHI RANI</a:t>
            </a:r>
            <a:r>
              <a:rPr lang="en-US" b="true" sz="3600" spc="-1">
                <a:solidFill>
                  <a:srgbClr val="4C4C4C"/>
                </a:solidFill>
                <a:latin typeface="Cambria Bold"/>
                <a:ea typeface="Cambria Bold"/>
                <a:cs typeface="Cambria Bold"/>
                <a:sym typeface="Cambria Bold"/>
              </a:rPr>
              <a:t>, PARI , KARTIK SINGH, SUJAL TEOTIA</a:t>
            </a:r>
          </a:p>
          <a:p>
            <a:pPr algn="ctr">
              <a:lnSpc>
                <a:spcPts val="3888"/>
              </a:lnSpc>
            </a:pPr>
            <a:r>
              <a:rPr lang="en-US" b="true" sz="3600">
                <a:solidFill>
                  <a:srgbClr val="4C4C4C"/>
                </a:solidFill>
                <a:latin typeface="Cambria Bold"/>
                <a:ea typeface="Cambria Bold"/>
                <a:cs typeface="Cambria Bold"/>
                <a:sym typeface="Cambria Bold"/>
              </a:rPr>
              <a:t>KRISHNA INSTITUTE OF ENGINEERING &amp; TECHNOLOGY(KIET),</a:t>
            </a:r>
          </a:p>
          <a:p>
            <a:pPr algn="ctr">
              <a:lnSpc>
                <a:spcPts val="3888"/>
              </a:lnSpc>
            </a:pPr>
            <a:r>
              <a:rPr lang="en-US" b="true" sz="3600" spc="-1">
                <a:solidFill>
                  <a:srgbClr val="4C4C4C"/>
                </a:solidFill>
                <a:latin typeface="Cambria Bold"/>
                <a:ea typeface="Cambria Bold"/>
                <a:cs typeface="Cambria Bold"/>
                <a:sym typeface="Cambria Bold"/>
              </a:rPr>
              <a:t>GHAZIABAD, U.P., INDIA </a:t>
            </a:r>
          </a:p>
          <a:p>
            <a:pPr algn="ctr">
              <a:lnSpc>
                <a:spcPts val="3888"/>
              </a:lnSpc>
            </a:pPr>
          </a:p>
          <a:p>
            <a:pPr algn="ctr">
              <a:lnSpc>
                <a:spcPts val="3888"/>
              </a:lnSpc>
            </a:pPr>
          </a:p>
        </p:txBody>
      </p:sp>
      <p:grpSp>
        <p:nvGrpSpPr>
          <p:cNvPr name="Group 6" id="6"/>
          <p:cNvGrpSpPr/>
          <p:nvPr/>
        </p:nvGrpSpPr>
        <p:grpSpPr>
          <a:xfrm rot="0">
            <a:off x="286402" y="329689"/>
            <a:ext cx="2060629" cy="2358038"/>
            <a:chOff x="0" y="0"/>
            <a:chExt cx="2747505" cy="3144050"/>
          </a:xfrm>
        </p:grpSpPr>
        <p:sp>
          <p:nvSpPr>
            <p:cNvPr name="Freeform 7" id="7"/>
            <p:cNvSpPr/>
            <p:nvPr/>
          </p:nvSpPr>
          <p:spPr>
            <a:xfrm flipH="false" flipV="false" rot="0">
              <a:off x="0" y="0"/>
              <a:ext cx="2747518" cy="3144012"/>
            </a:xfrm>
            <a:custGeom>
              <a:avLst/>
              <a:gdLst/>
              <a:ahLst/>
              <a:cxnLst/>
              <a:rect r="r" b="b" t="t" l="l"/>
              <a:pathLst>
                <a:path h="3144012" w="2747518">
                  <a:moveTo>
                    <a:pt x="0" y="0"/>
                  </a:moveTo>
                  <a:lnTo>
                    <a:pt x="2747518" y="0"/>
                  </a:lnTo>
                  <a:lnTo>
                    <a:pt x="2747518" y="3144012"/>
                  </a:lnTo>
                  <a:lnTo>
                    <a:pt x="0" y="3144012"/>
                  </a:lnTo>
                  <a:lnTo>
                    <a:pt x="0" y="0"/>
                  </a:lnTo>
                  <a:close/>
                </a:path>
              </a:pathLst>
            </a:custGeom>
            <a:blipFill>
              <a:blip r:embed="rId3"/>
              <a:stretch>
                <a:fillRect l="0" t="0" r="0" b="-1"/>
              </a:stretch>
            </a:blipFill>
          </p:spPr>
        </p:sp>
      </p:grpSp>
      <p:grpSp>
        <p:nvGrpSpPr>
          <p:cNvPr name="Group 8" id="8"/>
          <p:cNvGrpSpPr/>
          <p:nvPr/>
        </p:nvGrpSpPr>
        <p:grpSpPr>
          <a:xfrm rot="0">
            <a:off x="14758011" y="279235"/>
            <a:ext cx="3157023" cy="3157023"/>
            <a:chOff x="0" y="0"/>
            <a:chExt cx="4209364" cy="4209364"/>
          </a:xfrm>
        </p:grpSpPr>
        <p:sp>
          <p:nvSpPr>
            <p:cNvPr name="Freeform 9" id="9"/>
            <p:cNvSpPr/>
            <p:nvPr/>
          </p:nvSpPr>
          <p:spPr>
            <a:xfrm flipH="false" flipV="false" rot="0">
              <a:off x="0" y="0"/>
              <a:ext cx="4209415" cy="4209415"/>
            </a:xfrm>
            <a:custGeom>
              <a:avLst/>
              <a:gdLst/>
              <a:ahLst/>
              <a:cxnLst/>
              <a:rect r="r" b="b" t="t" l="l"/>
              <a:pathLst>
                <a:path h="4209415" w="4209415">
                  <a:moveTo>
                    <a:pt x="0" y="0"/>
                  </a:moveTo>
                  <a:lnTo>
                    <a:pt x="4209415" y="0"/>
                  </a:lnTo>
                  <a:lnTo>
                    <a:pt x="4209415" y="4209415"/>
                  </a:lnTo>
                  <a:lnTo>
                    <a:pt x="0" y="4209415"/>
                  </a:lnTo>
                  <a:lnTo>
                    <a:pt x="0" y="0"/>
                  </a:lnTo>
                  <a:close/>
                </a:path>
              </a:pathLst>
            </a:custGeom>
            <a:blipFill>
              <a:blip r:embed="rId4"/>
              <a:stretch>
                <a:fillRect l="0" t="0" r="1" b="1"/>
              </a:stretch>
            </a:blipFill>
          </p:spPr>
        </p:sp>
      </p:grpSp>
      <p:grpSp>
        <p:nvGrpSpPr>
          <p:cNvPr name="Group 10" id="10"/>
          <p:cNvGrpSpPr/>
          <p:nvPr/>
        </p:nvGrpSpPr>
        <p:grpSpPr>
          <a:xfrm rot="0">
            <a:off x="286402" y="8774201"/>
            <a:ext cx="2919492" cy="1219380"/>
            <a:chOff x="0" y="0"/>
            <a:chExt cx="4636420" cy="1936486"/>
          </a:xfrm>
        </p:grpSpPr>
        <p:sp>
          <p:nvSpPr>
            <p:cNvPr name="Freeform 11" id="11"/>
            <p:cNvSpPr/>
            <p:nvPr/>
          </p:nvSpPr>
          <p:spPr>
            <a:xfrm flipH="false" flipV="false" rot="0">
              <a:off x="0" y="0"/>
              <a:ext cx="4636433" cy="1936537"/>
            </a:xfrm>
            <a:custGeom>
              <a:avLst/>
              <a:gdLst/>
              <a:ahLst/>
              <a:cxnLst/>
              <a:rect r="r" b="b" t="t" l="l"/>
              <a:pathLst>
                <a:path h="1936537" w="4636433">
                  <a:moveTo>
                    <a:pt x="0" y="0"/>
                  </a:moveTo>
                  <a:lnTo>
                    <a:pt x="4636433" y="0"/>
                  </a:lnTo>
                  <a:lnTo>
                    <a:pt x="4636433" y="1936537"/>
                  </a:lnTo>
                  <a:lnTo>
                    <a:pt x="0" y="1936537"/>
                  </a:lnTo>
                  <a:lnTo>
                    <a:pt x="0" y="0"/>
                  </a:lnTo>
                  <a:close/>
                </a:path>
              </a:pathLst>
            </a:custGeom>
            <a:blipFill>
              <a:blip r:embed="rId5"/>
              <a:stretch>
                <a:fillRect l="0" t="-10502" r="0" b="-23940"/>
              </a:stretch>
            </a:blipFill>
          </p:spPr>
        </p:sp>
      </p:grpSp>
      <p:grpSp>
        <p:nvGrpSpPr>
          <p:cNvPr name="Group 12" id="12"/>
          <p:cNvGrpSpPr/>
          <p:nvPr/>
        </p:nvGrpSpPr>
        <p:grpSpPr>
          <a:xfrm rot="0">
            <a:off x="12933840" y="8480441"/>
            <a:ext cx="5067757" cy="1806559"/>
            <a:chOff x="0" y="0"/>
            <a:chExt cx="6757010" cy="2408746"/>
          </a:xfrm>
        </p:grpSpPr>
        <p:sp>
          <p:nvSpPr>
            <p:cNvPr name="Freeform 13" id="13"/>
            <p:cNvSpPr/>
            <p:nvPr/>
          </p:nvSpPr>
          <p:spPr>
            <a:xfrm flipH="false" flipV="false" rot="0">
              <a:off x="0" y="0"/>
              <a:ext cx="6757035" cy="2408809"/>
            </a:xfrm>
            <a:custGeom>
              <a:avLst/>
              <a:gdLst/>
              <a:ahLst/>
              <a:cxnLst/>
              <a:rect r="r" b="b" t="t" l="l"/>
              <a:pathLst>
                <a:path h="2408809" w="6757035">
                  <a:moveTo>
                    <a:pt x="0" y="0"/>
                  </a:moveTo>
                  <a:lnTo>
                    <a:pt x="6757035" y="0"/>
                  </a:lnTo>
                  <a:lnTo>
                    <a:pt x="6757035" y="2408809"/>
                  </a:lnTo>
                  <a:lnTo>
                    <a:pt x="0" y="2408809"/>
                  </a:lnTo>
                  <a:lnTo>
                    <a:pt x="0" y="0"/>
                  </a:lnTo>
                  <a:close/>
                </a:path>
              </a:pathLst>
            </a:custGeom>
            <a:blipFill>
              <a:blip r:embed="rId6"/>
              <a:stretch>
                <a:fillRect l="0" t="0" r="0" b="2"/>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427" y="-61014"/>
            <a:ext cx="1904547" cy="2179428"/>
            <a:chOff x="0" y="0"/>
            <a:chExt cx="2747505" cy="3144050"/>
          </a:xfrm>
        </p:grpSpPr>
        <p:sp>
          <p:nvSpPr>
            <p:cNvPr name="Freeform 3" id="3"/>
            <p:cNvSpPr/>
            <p:nvPr/>
          </p:nvSpPr>
          <p:spPr>
            <a:xfrm flipH="false" flipV="false" rot="0">
              <a:off x="0" y="0"/>
              <a:ext cx="2747518" cy="3144012"/>
            </a:xfrm>
            <a:custGeom>
              <a:avLst/>
              <a:gdLst/>
              <a:ahLst/>
              <a:cxnLst/>
              <a:rect r="r" b="b" t="t" l="l"/>
              <a:pathLst>
                <a:path h="3144012" w="2747518">
                  <a:moveTo>
                    <a:pt x="0" y="0"/>
                  </a:moveTo>
                  <a:lnTo>
                    <a:pt x="2747518" y="0"/>
                  </a:lnTo>
                  <a:lnTo>
                    <a:pt x="2747518" y="3144012"/>
                  </a:lnTo>
                  <a:lnTo>
                    <a:pt x="0" y="3144012"/>
                  </a:lnTo>
                  <a:lnTo>
                    <a:pt x="0" y="0"/>
                  </a:lnTo>
                  <a:close/>
                </a:path>
              </a:pathLst>
            </a:custGeom>
            <a:blipFill>
              <a:blip r:embed="rId2"/>
              <a:stretch>
                <a:fillRect l="0" t="0" r="0" b="-1"/>
              </a:stretch>
            </a:blipFill>
          </p:spPr>
        </p:sp>
      </p:grpSp>
      <p:grpSp>
        <p:nvGrpSpPr>
          <p:cNvPr name="Group 4" id="4"/>
          <p:cNvGrpSpPr/>
          <p:nvPr/>
        </p:nvGrpSpPr>
        <p:grpSpPr>
          <a:xfrm rot="0">
            <a:off x="15954705" y="-61014"/>
            <a:ext cx="2333295" cy="2333295"/>
            <a:chOff x="0" y="0"/>
            <a:chExt cx="4209364" cy="4209364"/>
          </a:xfrm>
        </p:grpSpPr>
        <p:sp>
          <p:nvSpPr>
            <p:cNvPr name="Freeform 5" id="5"/>
            <p:cNvSpPr/>
            <p:nvPr/>
          </p:nvSpPr>
          <p:spPr>
            <a:xfrm flipH="false" flipV="false" rot="0">
              <a:off x="0" y="0"/>
              <a:ext cx="4209415" cy="4209415"/>
            </a:xfrm>
            <a:custGeom>
              <a:avLst/>
              <a:gdLst/>
              <a:ahLst/>
              <a:cxnLst/>
              <a:rect r="r" b="b" t="t" l="l"/>
              <a:pathLst>
                <a:path h="4209415" w="4209415">
                  <a:moveTo>
                    <a:pt x="0" y="0"/>
                  </a:moveTo>
                  <a:lnTo>
                    <a:pt x="4209415" y="0"/>
                  </a:lnTo>
                  <a:lnTo>
                    <a:pt x="4209415" y="4209415"/>
                  </a:lnTo>
                  <a:lnTo>
                    <a:pt x="0" y="4209415"/>
                  </a:lnTo>
                  <a:lnTo>
                    <a:pt x="0" y="0"/>
                  </a:lnTo>
                  <a:close/>
                </a:path>
              </a:pathLst>
            </a:custGeom>
            <a:blipFill>
              <a:blip r:embed="rId3"/>
              <a:stretch>
                <a:fillRect l="0" t="0" r="1" b="1"/>
              </a:stretch>
            </a:blipFill>
          </p:spPr>
        </p:sp>
      </p:grpSp>
      <p:grpSp>
        <p:nvGrpSpPr>
          <p:cNvPr name="Group 6" id="6"/>
          <p:cNvGrpSpPr/>
          <p:nvPr/>
        </p:nvGrpSpPr>
        <p:grpSpPr>
          <a:xfrm rot="0">
            <a:off x="438802" y="9424245"/>
            <a:ext cx="1728013" cy="721736"/>
            <a:chOff x="0" y="0"/>
            <a:chExt cx="4636420" cy="1936486"/>
          </a:xfrm>
        </p:grpSpPr>
        <p:sp>
          <p:nvSpPr>
            <p:cNvPr name="Freeform 7" id="7"/>
            <p:cNvSpPr/>
            <p:nvPr/>
          </p:nvSpPr>
          <p:spPr>
            <a:xfrm flipH="false" flipV="false" rot="0">
              <a:off x="0" y="0"/>
              <a:ext cx="4636433" cy="1936537"/>
            </a:xfrm>
            <a:custGeom>
              <a:avLst/>
              <a:gdLst/>
              <a:ahLst/>
              <a:cxnLst/>
              <a:rect r="r" b="b" t="t" l="l"/>
              <a:pathLst>
                <a:path h="1936537" w="4636433">
                  <a:moveTo>
                    <a:pt x="0" y="0"/>
                  </a:moveTo>
                  <a:lnTo>
                    <a:pt x="4636433" y="0"/>
                  </a:lnTo>
                  <a:lnTo>
                    <a:pt x="4636433" y="1936537"/>
                  </a:lnTo>
                  <a:lnTo>
                    <a:pt x="0" y="1936537"/>
                  </a:lnTo>
                  <a:lnTo>
                    <a:pt x="0" y="0"/>
                  </a:lnTo>
                  <a:close/>
                </a:path>
              </a:pathLst>
            </a:custGeom>
            <a:blipFill>
              <a:blip r:embed="rId4"/>
              <a:stretch>
                <a:fillRect l="0" t="-10502" r="0" b="-23940"/>
              </a:stretch>
            </a:blipFill>
          </p:spPr>
        </p:sp>
      </p:grpSp>
      <p:grpSp>
        <p:nvGrpSpPr>
          <p:cNvPr name="Group 8" id="8"/>
          <p:cNvGrpSpPr/>
          <p:nvPr/>
        </p:nvGrpSpPr>
        <p:grpSpPr>
          <a:xfrm rot="0">
            <a:off x="15280282" y="9414975"/>
            <a:ext cx="2873716" cy="1024425"/>
            <a:chOff x="0" y="0"/>
            <a:chExt cx="6757010" cy="2408746"/>
          </a:xfrm>
        </p:grpSpPr>
        <p:sp>
          <p:nvSpPr>
            <p:cNvPr name="Freeform 9" id="9"/>
            <p:cNvSpPr/>
            <p:nvPr/>
          </p:nvSpPr>
          <p:spPr>
            <a:xfrm flipH="false" flipV="false" rot="0">
              <a:off x="0" y="0"/>
              <a:ext cx="6757035" cy="2408809"/>
            </a:xfrm>
            <a:custGeom>
              <a:avLst/>
              <a:gdLst/>
              <a:ahLst/>
              <a:cxnLst/>
              <a:rect r="r" b="b" t="t" l="l"/>
              <a:pathLst>
                <a:path h="2408809" w="6757035">
                  <a:moveTo>
                    <a:pt x="0" y="0"/>
                  </a:moveTo>
                  <a:lnTo>
                    <a:pt x="6757035" y="0"/>
                  </a:lnTo>
                  <a:lnTo>
                    <a:pt x="6757035" y="2408809"/>
                  </a:lnTo>
                  <a:lnTo>
                    <a:pt x="0" y="2408809"/>
                  </a:lnTo>
                  <a:lnTo>
                    <a:pt x="0" y="0"/>
                  </a:lnTo>
                  <a:close/>
                </a:path>
              </a:pathLst>
            </a:custGeom>
            <a:blipFill>
              <a:blip r:embed="rId5"/>
              <a:stretch>
                <a:fillRect l="0" t="0" r="0" b="2"/>
              </a:stretch>
            </a:blipFill>
          </p:spPr>
        </p:sp>
      </p:grpSp>
      <p:sp>
        <p:nvSpPr>
          <p:cNvPr name="TextBox 10" id="10"/>
          <p:cNvSpPr txBox="true"/>
          <p:nvPr/>
        </p:nvSpPr>
        <p:spPr>
          <a:xfrm rot="0">
            <a:off x="6935114" y="268395"/>
            <a:ext cx="4065451" cy="733308"/>
          </a:xfrm>
          <a:prstGeom prst="rect">
            <a:avLst/>
          </a:prstGeom>
        </p:spPr>
        <p:txBody>
          <a:bodyPr anchor="t" rtlCol="false" tIns="0" lIns="0" bIns="0" rIns="0">
            <a:spAutoFit/>
          </a:bodyPr>
          <a:lstStyle/>
          <a:p>
            <a:pPr algn="l">
              <a:lnSpc>
                <a:spcPts val="6075"/>
              </a:lnSpc>
            </a:pPr>
            <a:r>
              <a:rPr lang="en-US" b="true" sz="3999">
                <a:solidFill>
                  <a:srgbClr val="C00000"/>
                </a:solidFill>
                <a:latin typeface="Canva Sans Bold"/>
                <a:ea typeface="Canva Sans Bold"/>
                <a:cs typeface="Canva Sans Bold"/>
                <a:sym typeface="Canva Sans Bold"/>
              </a:rPr>
              <a:t>INTRODUCTION</a:t>
            </a:r>
          </a:p>
        </p:txBody>
      </p:sp>
      <p:sp>
        <p:nvSpPr>
          <p:cNvPr name="TextBox 11" id="11"/>
          <p:cNvSpPr txBox="true"/>
          <p:nvPr/>
        </p:nvSpPr>
        <p:spPr>
          <a:xfrm rot="0">
            <a:off x="8821709" y="1096954"/>
            <a:ext cx="107947" cy="640366"/>
          </a:xfrm>
          <a:prstGeom prst="rect">
            <a:avLst/>
          </a:prstGeom>
        </p:spPr>
        <p:txBody>
          <a:bodyPr anchor="t" rtlCol="false" tIns="0" lIns="0" bIns="0" rIns="0">
            <a:spAutoFit/>
          </a:bodyPr>
          <a:lstStyle/>
          <a:p>
            <a:pPr algn="l">
              <a:lnSpc>
                <a:spcPts val="5164"/>
              </a:lnSpc>
            </a:pPr>
            <a:r>
              <a:rPr lang="en-US" sz="3399">
                <a:solidFill>
                  <a:srgbClr val="000000"/>
                </a:solidFill>
                <a:latin typeface="Canva Sans"/>
                <a:ea typeface="Canva Sans"/>
                <a:cs typeface="Canva Sans"/>
                <a:sym typeface="Canva Sans"/>
              </a:rPr>
              <a:t> </a:t>
            </a:r>
          </a:p>
        </p:txBody>
      </p:sp>
      <p:sp>
        <p:nvSpPr>
          <p:cNvPr name="TextBox 12" id="12"/>
          <p:cNvSpPr txBox="true"/>
          <p:nvPr/>
        </p:nvSpPr>
        <p:spPr>
          <a:xfrm rot="0">
            <a:off x="772386" y="2080314"/>
            <a:ext cx="8371614" cy="3618597"/>
          </a:xfrm>
          <a:prstGeom prst="rect">
            <a:avLst/>
          </a:prstGeom>
        </p:spPr>
        <p:txBody>
          <a:bodyPr anchor="t" rtlCol="false" tIns="0" lIns="0" bIns="0" rIns="0">
            <a:spAutoFit/>
          </a:bodyPr>
          <a:lstStyle/>
          <a:p>
            <a:pPr algn="just">
              <a:lnSpc>
                <a:spcPts val="2879"/>
              </a:lnSpc>
              <a:spcBef>
                <a:spcPct val="0"/>
              </a:spcBef>
            </a:pPr>
            <a:r>
              <a:rPr lang="en-US" sz="2056">
                <a:solidFill>
                  <a:srgbClr val="000000"/>
                </a:solidFill>
                <a:latin typeface="Canva Sans"/>
                <a:ea typeface="Canva Sans"/>
                <a:cs typeface="Canva Sans"/>
                <a:sym typeface="Canva Sans"/>
              </a:rPr>
              <a:t>🔹 </a:t>
            </a:r>
            <a:r>
              <a:rPr lang="en-US" b="true" sz="2056">
                <a:solidFill>
                  <a:srgbClr val="000000"/>
                </a:solidFill>
                <a:latin typeface="Canva Sans Bold"/>
                <a:ea typeface="Canva Sans Bold"/>
                <a:cs typeface="Canva Sans Bold"/>
                <a:sym typeface="Canva Sans Bold"/>
              </a:rPr>
              <a:t>Background</a:t>
            </a:r>
          </a:p>
          <a:p>
            <a:pPr algn="just" marL="444024" indent="-222012" lvl="1">
              <a:lnSpc>
                <a:spcPts val="2879"/>
              </a:lnSpc>
              <a:buFont typeface="Arial"/>
              <a:buChar char="•"/>
            </a:pPr>
            <a:r>
              <a:rPr lang="en-US" sz="2056">
                <a:solidFill>
                  <a:srgbClr val="000000"/>
                </a:solidFill>
                <a:latin typeface="Canva Sans"/>
                <a:ea typeface="Canva Sans"/>
                <a:cs typeface="Canva Sans"/>
                <a:sym typeface="Canva Sans"/>
              </a:rPr>
              <a:t>Hackathons promote creativity, teamwork, and real-world problem solving</a:t>
            </a:r>
          </a:p>
          <a:p>
            <a:pPr algn="just" marL="444024" indent="-222012" lvl="1">
              <a:lnSpc>
                <a:spcPts val="2879"/>
              </a:lnSpc>
              <a:buFont typeface="Arial"/>
              <a:buChar char="•"/>
            </a:pPr>
            <a:r>
              <a:rPr lang="en-US" sz="2056">
                <a:solidFill>
                  <a:srgbClr val="000000"/>
                </a:solidFill>
                <a:latin typeface="Canva Sans"/>
                <a:ea typeface="Canva Sans"/>
                <a:cs typeface="Canva Sans"/>
                <a:sym typeface="Canva Sans"/>
              </a:rPr>
              <a:t>Forming effective teams is difficult due to mismatched goals, skills, and availability</a:t>
            </a:r>
          </a:p>
          <a:p>
            <a:pPr algn="just" marL="444024" indent="-222012" lvl="1">
              <a:lnSpc>
                <a:spcPts val="2879"/>
              </a:lnSpc>
              <a:buFont typeface="Arial"/>
              <a:buChar char="•"/>
            </a:pPr>
            <a:r>
              <a:rPr lang="en-US" sz="2056">
                <a:solidFill>
                  <a:srgbClr val="000000"/>
                </a:solidFill>
                <a:latin typeface="Canva Sans"/>
                <a:ea typeface="Canva Sans"/>
                <a:cs typeface="Canva Sans"/>
                <a:sym typeface="Canva Sans"/>
              </a:rPr>
              <a:t>Participants often end up in unbalanced teams → poor coordination and frustration</a:t>
            </a:r>
          </a:p>
          <a:p>
            <a:pPr algn="just" marL="444024" indent="-222012" lvl="1">
              <a:lnSpc>
                <a:spcPts val="2879"/>
              </a:lnSpc>
              <a:buFont typeface="Arial"/>
              <a:buChar char="•"/>
            </a:pPr>
            <a:r>
              <a:rPr lang="en-US" sz="2056">
                <a:solidFill>
                  <a:srgbClr val="000000"/>
                </a:solidFill>
                <a:latin typeface="Canva Sans"/>
                <a:ea typeface="Canva Sans"/>
                <a:cs typeface="Canva Sans"/>
                <a:sym typeface="Canva Sans"/>
              </a:rPr>
              <a:t>Traditional team formation methods rely on manual selection and scale poorly</a:t>
            </a:r>
          </a:p>
          <a:p>
            <a:pPr algn="just">
              <a:lnSpc>
                <a:spcPts val="2879"/>
              </a:lnSpc>
              <a:spcBef>
                <a:spcPct val="0"/>
              </a:spcBef>
            </a:pPr>
          </a:p>
        </p:txBody>
      </p:sp>
      <p:sp>
        <p:nvSpPr>
          <p:cNvPr name="TextBox 13" id="13"/>
          <p:cNvSpPr txBox="true"/>
          <p:nvPr/>
        </p:nvSpPr>
        <p:spPr>
          <a:xfrm rot="0">
            <a:off x="666567" y="5651286"/>
            <a:ext cx="8583252" cy="2167423"/>
          </a:xfrm>
          <a:prstGeom prst="rect">
            <a:avLst/>
          </a:prstGeom>
        </p:spPr>
        <p:txBody>
          <a:bodyPr anchor="t" rtlCol="false" tIns="0" lIns="0" bIns="0" rIns="0">
            <a:spAutoFit/>
          </a:bodyPr>
          <a:lstStyle/>
          <a:p>
            <a:pPr algn="l">
              <a:lnSpc>
                <a:spcPts val="2860"/>
              </a:lnSpc>
            </a:pPr>
            <a:r>
              <a:rPr lang="en-US" sz="2043">
                <a:solidFill>
                  <a:srgbClr val="000000"/>
                </a:solidFill>
                <a:latin typeface="Canva Sans"/>
                <a:ea typeface="Canva Sans"/>
                <a:cs typeface="Canva Sans"/>
                <a:sym typeface="Canva Sans"/>
              </a:rPr>
              <a:t>🔹</a:t>
            </a:r>
            <a:r>
              <a:rPr lang="en-US" b="true" sz="2043">
                <a:solidFill>
                  <a:srgbClr val="000000"/>
                </a:solidFill>
                <a:latin typeface="Canva Sans Bold"/>
                <a:ea typeface="Canva Sans Bold"/>
                <a:cs typeface="Canva Sans Bold"/>
                <a:sym typeface="Canva Sans Bold"/>
              </a:rPr>
              <a:t> Problem Statement</a:t>
            </a:r>
          </a:p>
          <a:p>
            <a:pPr algn="l" marL="441166" indent="-220583" lvl="1">
              <a:lnSpc>
                <a:spcPts val="2860"/>
              </a:lnSpc>
              <a:buFont typeface="Arial"/>
              <a:buChar char="•"/>
            </a:pPr>
            <a:r>
              <a:rPr lang="en-US" sz="2043">
                <a:solidFill>
                  <a:srgbClr val="000000"/>
                </a:solidFill>
                <a:latin typeface="Canva Sans"/>
                <a:ea typeface="Canva Sans"/>
                <a:cs typeface="Canva Sans"/>
                <a:sym typeface="Canva Sans"/>
              </a:rPr>
              <a:t>Difficulty in finding compatible teammates.</a:t>
            </a:r>
          </a:p>
          <a:p>
            <a:pPr algn="l" marL="441166" indent="-220583" lvl="1">
              <a:lnSpc>
                <a:spcPts val="2860"/>
              </a:lnSpc>
              <a:buFont typeface="Arial"/>
              <a:buChar char="•"/>
            </a:pPr>
            <a:r>
              <a:rPr lang="en-US" sz="2043">
                <a:solidFill>
                  <a:srgbClr val="000000"/>
                </a:solidFill>
                <a:latin typeface="Canva Sans"/>
                <a:ea typeface="Canva Sans"/>
                <a:cs typeface="Canva Sans"/>
                <a:sym typeface="Canva Sans"/>
              </a:rPr>
              <a:t>Unbalanced teams reduce participation and productivity.</a:t>
            </a:r>
          </a:p>
          <a:p>
            <a:pPr algn="l" marL="441166" indent="-220583" lvl="1">
              <a:lnSpc>
                <a:spcPts val="2860"/>
              </a:lnSpc>
              <a:buFont typeface="Arial"/>
              <a:buChar char="•"/>
            </a:pPr>
            <a:r>
              <a:rPr lang="en-US" sz="2043">
                <a:solidFill>
                  <a:srgbClr val="000000"/>
                </a:solidFill>
                <a:latin typeface="Canva Sans"/>
                <a:ea typeface="Canva Sans"/>
                <a:cs typeface="Canva Sans"/>
                <a:sym typeface="Canva Sans"/>
              </a:rPr>
              <a:t>Team Formation Problem (TFP) is NP-hard — complexity increases with more participants and constraints.</a:t>
            </a:r>
          </a:p>
          <a:p>
            <a:pPr algn="l" marL="441166" indent="-220583" lvl="1">
              <a:lnSpc>
                <a:spcPts val="2860"/>
              </a:lnSpc>
              <a:buFont typeface="Arial"/>
              <a:buChar char="•"/>
            </a:pPr>
            <a:r>
              <a:rPr lang="en-US" sz="2043">
                <a:solidFill>
                  <a:srgbClr val="000000"/>
                </a:solidFill>
                <a:latin typeface="Canva Sans"/>
                <a:ea typeface="Canva Sans"/>
                <a:cs typeface="Canva Sans"/>
                <a:sym typeface="Canva Sans"/>
              </a:rPr>
              <a:t>Existing approaches lack intelligent matchmaking mechanisms.</a:t>
            </a:r>
          </a:p>
        </p:txBody>
      </p:sp>
      <p:sp>
        <p:nvSpPr>
          <p:cNvPr name="TextBox 14" id="14"/>
          <p:cNvSpPr txBox="true"/>
          <p:nvPr/>
        </p:nvSpPr>
        <p:spPr>
          <a:xfrm rot="0">
            <a:off x="9636357" y="1909841"/>
            <a:ext cx="8244352" cy="3233659"/>
          </a:xfrm>
          <a:prstGeom prst="rect">
            <a:avLst/>
          </a:prstGeom>
        </p:spPr>
        <p:txBody>
          <a:bodyPr anchor="t" rtlCol="false" tIns="0" lIns="0" bIns="0" rIns="0">
            <a:spAutoFit/>
          </a:bodyPr>
          <a:lstStyle/>
          <a:p>
            <a:pPr algn="l">
              <a:lnSpc>
                <a:spcPts val="2891"/>
              </a:lnSpc>
              <a:spcBef>
                <a:spcPct val="0"/>
              </a:spcBef>
            </a:pPr>
            <a:r>
              <a:rPr lang="en-US" sz="2065">
                <a:solidFill>
                  <a:srgbClr val="000000"/>
                </a:solidFill>
                <a:latin typeface="Canva Sans"/>
                <a:ea typeface="Canva Sans"/>
                <a:cs typeface="Canva Sans"/>
                <a:sym typeface="Canva Sans"/>
              </a:rPr>
              <a:t>🔹 </a:t>
            </a:r>
            <a:r>
              <a:rPr lang="en-US" b="true" sz="2065">
                <a:solidFill>
                  <a:srgbClr val="000000"/>
                </a:solidFill>
                <a:latin typeface="Canva Sans Bold"/>
                <a:ea typeface="Canva Sans Bold"/>
                <a:cs typeface="Canva Sans Bold"/>
                <a:sym typeface="Canva Sans Bold"/>
              </a:rPr>
              <a:t>Proposed Idea – Team Builders</a:t>
            </a:r>
          </a:p>
          <a:p>
            <a:pPr algn="l" marL="445959" indent="-222980" lvl="1">
              <a:lnSpc>
                <a:spcPts val="2891"/>
              </a:lnSpc>
              <a:buFont typeface="Arial"/>
              <a:buChar char="•"/>
            </a:pPr>
            <a:r>
              <a:rPr lang="en-US" sz="2065">
                <a:solidFill>
                  <a:srgbClr val="000000"/>
                </a:solidFill>
                <a:latin typeface="Canva Sans"/>
                <a:ea typeface="Canva Sans"/>
                <a:cs typeface="Canva Sans"/>
                <a:sym typeface="Canva Sans"/>
              </a:rPr>
              <a:t>MERN-stack web platform for automated hackathon team formation.</a:t>
            </a:r>
          </a:p>
          <a:p>
            <a:pPr algn="l" marL="445959" indent="-222980" lvl="1">
              <a:lnSpc>
                <a:spcPts val="2891"/>
              </a:lnSpc>
              <a:buFont typeface="Arial"/>
              <a:buChar char="•"/>
            </a:pPr>
            <a:r>
              <a:rPr lang="en-US" sz="2065">
                <a:solidFill>
                  <a:srgbClr val="000000"/>
                </a:solidFill>
                <a:latin typeface="Canva Sans"/>
                <a:ea typeface="Canva Sans"/>
                <a:cs typeface="Canva Sans"/>
                <a:sym typeface="Canva Sans"/>
              </a:rPr>
              <a:t> AI-powered matchmaking using </a:t>
            </a:r>
            <a:r>
              <a:rPr lang="en-US" b="true" sz="2065" i="true">
                <a:solidFill>
                  <a:srgbClr val="000000"/>
                </a:solidFill>
                <a:latin typeface="Canva Sans Bold Italics"/>
                <a:ea typeface="Canva Sans Bold Italics"/>
                <a:cs typeface="Canva Sans Bold Italics"/>
                <a:sym typeface="Canva Sans Bold Italics"/>
              </a:rPr>
              <a:t>Graph Neural Networks </a:t>
            </a:r>
            <a:r>
              <a:rPr lang="en-US" sz="2065">
                <a:solidFill>
                  <a:srgbClr val="000000"/>
                </a:solidFill>
                <a:latin typeface="Canva Sans"/>
                <a:ea typeface="Canva Sans"/>
                <a:cs typeface="Canva Sans"/>
                <a:sym typeface="Canva Sans"/>
              </a:rPr>
              <a:t>(GCN/GAT).</a:t>
            </a:r>
          </a:p>
          <a:p>
            <a:pPr algn="l" marL="445959" indent="-222980" lvl="1">
              <a:lnSpc>
                <a:spcPts val="2891"/>
              </a:lnSpc>
              <a:buFont typeface="Arial"/>
              <a:buChar char="•"/>
            </a:pPr>
            <a:r>
              <a:rPr lang="en-US" sz="2065">
                <a:solidFill>
                  <a:srgbClr val="000000"/>
                </a:solidFill>
                <a:latin typeface="Canva Sans"/>
                <a:ea typeface="Canva Sans"/>
                <a:cs typeface="Canva Sans"/>
                <a:sym typeface="Canva Sans"/>
              </a:rPr>
              <a:t> Models participants as graph nodes and shared attributes as edges.</a:t>
            </a:r>
          </a:p>
          <a:p>
            <a:pPr algn="l" marL="445959" indent="-222980" lvl="1">
              <a:lnSpc>
                <a:spcPts val="2891"/>
              </a:lnSpc>
              <a:buFont typeface="Arial"/>
              <a:buChar char="•"/>
            </a:pPr>
            <a:r>
              <a:rPr lang="en-US" sz="2065">
                <a:solidFill>
                  <a:srgbClr val="000000"/>
                </a:solidFill>
                <a:latin typeface="Canva Sans"/>
                <a:ea typeface="Canva Sans"/>
                <a:cs typeface="Canva Sans"/>
                <a:sym typeface="Canva Sans"/>
              </a:rPr>
              <a:t> Learns hidden patterns from skills, behavior, and interactions to improve recommendations.</a:t>
            </a:r>
          </a:p>
        </p:txBody>
      </p:sp>
      <p:sp>
        <p:nvSpPr>
          <p:cNvPr name="TextBox 15" id="15"/>
          <p:cNvSpPr txBox="true"/>
          <p:nvPr/>
        </p:nvSpPr>
        <p:spPr>
          <a:xfrm rot="0">
            <a:off x="9636357" y="5410200"/>
            <a:ext cx="8694933" cy="4329219"/>
          </a:xfrm>
          <a:prstGeom prst="rect">
            <a:avLst/>
          </a:prstGeom>
        </p:spPr>
        <p:txBody>
          <a:bodyPr anchor="t" rtlCol="false" tIns="0" lIns="0" bIns="0" rIns="0">
            <a:spAutoFit/>
          </a:bodyPr>
          <a:lstStyle/>
          <a:p>
            <a:pPr algn="l">
              <a:lnSpc>
                <a:spcPts val="2881"/>
              </a:lnSpc>
              <a:spcBef>
                <a:spcPct val="0"/>
              </a:spcBef>
            </a:pPr>
            <a:r>
              <a:rPr lang="en-US" sz="2058">
                <a:solidFill>
                  <a:srgbClr val="000000"/>
                </a:solidFill>
                <a:latin typeface="Canva Sans"/>
                <a:ea typeface="Canva Sans"/>
                <a:cs typeface="Canva Sans"/>
                <a:sym typeface="Canva Sans"/>
              </a:rPr>
              <a:t>🔹 </a:t>
            </a:r>
            <a:r>
              <a:rPr lang="en-US" b="true" sz="2058">
                <a:solidFill>
                  <a:srgbClr val="000000"/>
                </a:solidFill>
                <a:latin typeface="Canva Sans Bold"/>
                <a:ea typeface="Canva Sans Bold"/>
                <a:cs typeface="Canva Sans Bold"/>
                <a:sym typeface="Canva Sans Bold"/>
              </a:rPr>
              <a:t>Objective</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Create balanced and goal-aligned teams automatically</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 Improve collaboration, fairness, and innovation</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 Reduce manual effort in team formation</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 Provide scalable, intelligent matchmaking for hackathons</a:t>
            </a:r>
          </a:p>
          <a:p>
            <a:pPr algn="l">
              <a:lnSpc>
                <a:spcPts val="2881"/>
              </a:lnSpc>
              <a:spcBef>
                <a:spcPct val="0"/>
              </a:spcBef>
            </a:pPr>
          </a:p>
          <a:p>
            <a:pPr algn="l">
              <a:lnSpc>
                <a:spcPts val="2881"/>
              </a:lnSpc>
              <a:spcBef>
                <a:spcPct val="0"/>
              </a:spcBef>
            </a:pPr>
            <a:r>
              <a:rPr lang="en-US" sz="2058">
                <a:solidFill>
                  <a:srgbClr val="000000"/>
                </a:solidFill>
                <a:latin typeface="Canva Sans"/>
                <a:ea typeface="Canva Sans"/>
                <a:cs typeface="Canva Sans"/>
                <a:sym typeface="Canva Sans"/>
              </a:rPr>
              <a:t>🔹 </a:t>
            </a:r>
            <a:r>
              <a:rPr lang="en-US" b="true" sz="2058">
                <a:solidFill>
                  <a:srgbClr val="000000"/>
                </a:solidFill>
                <a:latin typeface="Canva Sans Bold"/>
                <a:ea typeface="Canva Sans Bold"/>
                <a:cs typeface="Canva Sans Bold"/>
                <a:sym typeface="Canva Sans Bold"/>
              </a:rPr>
              <a:t>Key Features &amp; Benefits</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Real-time seat availability and profile linking</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 Dual roles: Participants join events; Admins manage competitions</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 Transparent, data-driven recommendations</a:t>
            </a:r>
          </a:p>
          <a:p>
            <a:pPr algn="l" marL="444392" indent="-222196" lvl="1">
              <a:lnSpc>
                <a:spcPts val="2881"/>
              </a:lnSpc>
              <a:buFont typeface="Arial"/>
              <a:buChar char="•"/>
            </a:pPr>
            <a:r>
              <a:rPr lang="en-US" sz="2058">
                <a:solidFill>
                  <a:srgbClr val="000000"/>
                </a:solidFill>
                <a:latin typeface="Canva Sans"/>
                <a:ea typeface="Canva Sans"/>
                <a:cs typeface="Canva Sans"/>
                <a:sym typeface="Canva Sans"/>
              </a:rPr>
              <a:t> Enhances learning, teamwork, and practical skill development</a:t>
            </a:r>
          </a:p>
        </p:txBody>
      </p:sp>
      <p:sp>
        <p:nvSpPr>
          <p:cNvPr name="TextBox 16" id="16"/>
          <p:cNvSpPr txBox="true"/>
          <p:nvPr/>
        </p:nvSpPr>
        <p:spPr>
          <a:xfrm rot="0">
            <a:off x="4306096" y="935029"/>
            <a:ext cx="9887446" cy="580396"/>
          </a:xfrm>
          <a:prstGeom prst="rect">
            <a:avLst/>
          </a:prstGeom>
        </p:spPr>
        <p:txBody>
          <a:bodyPr anchor="t" rtlCol="false" tIns="0" lIns="0" bIns="0" rIns="0">
            <a:spAutoFit/>
          </a:bodyPr>
          <a:lstStyle/>
          <a:p>
            <a:pPr algn="ctr">
              <a:lnSpc>
                <a:spcPts val="4759"/>
              </a:lnSpc>
              <a:spcBef>
                <a:spcPct val="0"/>
              </a:spcBef>
            </a:pPr>
            <a:r>
              <a:rPr lang="en-US" b="true" sz="3399" i="true">
                <a:solidFill>
                  <a:srgbClr val="000000"/>
                </a:solidFill>
                <a:latin typeface="Canva Sans Bold Italics"/>
                <a:ea typeface="Canva Sans Bold Italics"/>
                <a:cs typeface="Canva Sans Bold Italics"/>
                <a:sym typeface="Canva Sans Bold Italics"/>
              </a:rPr>
              <a:t>The Team Formation Challenge in Hackathons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2177"/>
            <a:ext cx="1706717" cy="1953046"/>
            <a:chOff x="0" y="0"/>
            <a:chExt cx="2747505" cy="3144050"/>
          </a:xfrm>
        </p:grpSpPr>
        <p:sp>
          <p:nvSpPr>
            <p:cNvPr name="Freeform 3" id="3"/>
            <p:cNvSpPr/>
            <p:nvPr/>
          </p:nvSpPr>
          <p:spPr>
            <a:xfrm flipH="false" flipV="false" rot="0">
              <a:off x="0" y="0"/>
              <a:ext cx="2747518" cy="3144012"/>
            </a:xfrm>
            <a:custGeom>
              <a:avLst/>
              <a:gdLst/>
              <a:ahLst/>
              <a:cxnLst/>
              <a:rect r="r" b="b" t="t" l="l"/>
              <a:pathLst>
                <a:path h="3144012" w="2747518">
                  <a:moveTo>
                    <a:pt x="0" y="0"/>
                  </a:moveTo>
                  <a:lnTo>
                    <a:pt x="2747518" y="0"/>
                  </a:lnTo>
                  <a:lnTo>
                    <a:pt x="2747518" y="3144012"/>
                  </a:lnTo>
                  <a:lnTo>
                    <a:pt x="0" y="3144012"/>
                  </a:lnTo>
                  <a:lnTo>
                    <a:pt x="0" y="0"/>
                  </a:lnTo>
                  <a:close/>
                </a:path>
              </a:pathLst>
            </a:custGeom>
            <a:blipFill>
              <a:blip r:embed="rId2"/>
              <a:stretch>
                <a:fillRect l="0" t="0" r="0" b="-1"/>
              </a:stretch>
            </a:blipFill>
          </p:spPr>
        </p:sp>
      </p:grpSp>
      <p:grpSp>
        <p:nvGrpSpPr>
          <p:cNvPr name="Group 4" id="4"/>
          <p:cNvGrpSpPr/>
          <p:nvPr/>
        </p:nvGrpSpPr>
        <p:grpSpPr>
          <a:xfrm rot="0">
            <a:off x="16079119" y="0"/>
            <a:ext cx="2208881" cy="2208881"/>
            <a:chOff x="0" y="0"/>
            <a:chExt cx="4209364" cy="4209364"/>
          </a:xfrm>
        </p:grpSpPr>
        <p:sp>
          <p:nvSpPr>
            <p:cNvPr name="Freeform 5" id="5"/>
            <p:cNvSpPr/>
            <p:nvPr/>
          </p:nvSpPr>
          <p:spPr>
            <a:xfrm flipH="false" flipV="false" rot="0">
              <a:off x="0" y="0"/>
              <a:ext cx="4209415" cy="4209415"/>
            </a:xfrm>
            <a:custGeom>
              <a:avLst/>
              <a:gdLst/>
              <a:ahLst/>
              <a:cxnLst/>
              <a:rect r="r" b="b" t="t" l="l"/>
              <a:pathLst>
                <a:path h="4209415" w="4209415">
                  <a:moveTo>
                    <a:pt x="0" y="0"/>
                  </a:moveTo>
                  <a:lnTo>
                    <a:pt x="4209415" y="0"/>
                  </a:lnTo>
                  <a:lnTo>
                    <a:pt x="4209415" y="4209415"/>
                  </a:lnTo>
                  <a:lnTo>
                    <a:pt x="0" y="4209415"/>
                  </a:lnTo>
                  <a:lnTo>
                    <a:pt x="0" y="0"/>
                  </a:lnTo>
                  <a:close/>
                </a:path>
              </a:pathLst>
            </a:custGeom>
            <a:blipFill>
              <a:blip r:embed="rId3"/>
              <a:stretch>
                <a:fillRect l="0" t="0" r="1" b="1"/>
              </a:stretch>
            </a:blipFill>
          </p:spPr>
        </p:sp>
      </p:grpSp>
      <p:grpSp>
        <p:nvGrpSpPr>
          <p:cNvPr name="Group 6" id="6"/>
          <p:cNvGrpSpPr/>
          <p:nvPr/>
        </p:nvGrpSpPr>
        <p:grpSpPr>
          <a:xfrm rot="0">
            <a:off x="187546" y="9475413"/>
            <a:ext cx="1682308" cy="702647"/>
            <a:chOff x="0" y="0"/>
            <a:chExt cx="4636420" cy="1936486"/>
          </a:xfrm>
        </p:grpSpPr>
        <p:sp>
          <p:nvSpPr>
            <p:cNvPr name="Freeform 7" id="7"/>
            <p:cNvSpPr/>
            <p:nvPr/>
          </p:nvSpPr>
          <p:spPr>
            <a:xfrm flipH="false" flipV="false" rot="0">
              <a:off x="0" y="0"/>
              <a:ext cx="4636433" cy="1936537"/>
            </a:xfrm>
            <a:custGeom>
              <a:avLst/>
              <a:gdLst/>
              <a:ahLst/>
              <a:cxnLst/>
              <a:rect r="r" b="b" t="t" l="l"/>
              <a:pathLst>
                <a:path h="1936537" w="4636433">
                  <a:moveTo>
                    <a:pt x="0" y="0"/>
                  </a:moveTo>
                  <a:lnTo>
                    <a:pt x="4636433" y="0"/>
                  </a:lnTo>
                  <a:lnTo>
                    <a:pt x="4636433" y="1936537"/>
                  </a:lnTo>
                  <a:lnTo>
                    <a:pt x="0" y="1936537"/>
                  </a:lnTo>
                  <a:lnTo>
                    <a:pt x="0" y="0"/>
                  </a:lnTo>
                  <a:close/>
                </a:path>
              </a:pathLst>
            </a:custGeom>
            <a:blipFill>
              <a:blip r:embed="rId4"/>
              <a:stretch>
                <a:fillRect l="0" t="-10502" r="0" b="-23940"/>
              </a:stretch>
            </a:blipFill>
          </p:spPr>
        </p:sp>
      </p:grpSp>
      <p:grpSp>
        <p:nvGrpSpPr>
          <p:cNvPr name="Group 8" id="8"/>
          <p:cNvGrpSpPr/>
          <p:nvPr/>
        </p:nvGrpSpPr>
        <p:grpSpPr>
          <a:xfrm rot="0">
            <a:off x="13238640" y="8785241"/>
            <a:ext cx="5067757" cy="1806559"/>
            <a:chOff x="0" y="0"/>
            <a:chExt cx="6757010" cy="2408746"/>
          </a:xfrm>
        </p:grpSpPr>
        <p:sp>
          <p:nvSpPr>
            <p:cNvPr name="Freeform 9" id="9"/>
            <p:cNvSpPr/>
            <p:nvPr/>
          </p:nvSpPr>
          <p:spPr>
            <a:xfrm flipH="false" flipV="false" rot="0">
              <a:off x="0" y="0"/>
              <a:ext cx="6757035" cy="2408809"/>
            </a:xfrm>
            <a:custGeom>
              <a:avLst/>
              <a:gdLst/>
              <a:ahLst/>
              <a:cxnLst/>
              <a:rect r="r" b="b" t="t" l="l"/>
              <a:pathLst>
                <a:path h="2408809" w="6757035">
                  <a:moveTo>
                    <a:pt x="0" y="0"/>
                  </a:moveTo>
                  <a:lnTo>
                    <a:pt x="6757035" y="0"/>
                  </a:lnTo>
                  <a:lnTo>
                    <a:pt x="6757035" y="2408809"/>
                  </a:lnTo>
                  <a:lnTo>
                    <a:pt x="0" y="2408809"/>
                  </a:lnTo>
                  <a:lnTo>
                    <a:pt x="0" y="0"/>
                  </a:lnTo>
                  <a:close/>
                </a:path>
              </a:pathLst>
            </a:custGeom>
            <a:blipFill>
              <a:blip r:embed="rId5"/>
              <a:stretch>
                <a:fillRect l="0" t="0" r="0" b="2"/>
              </a:stretch>
            </a:blipFill>
          </p:spPr>
        </p:sp>
      </p:grpSp>
      <p:sp>
        <p:nvSpPr>
          <p:cNvPr name="TextBox 10" id="10"/>
          <p:cNvSpPr txBox="true"/>
          <p:nvPr/>
        </p:nvSpPr>
        <p:spPr>
          <a:xfrm rot="0">
            <a:off x="7398642" y="375070"/>
            <a:ext cx="3129667" cy="729371"/>
          </a:xfrm>
          <a:prstGeom prst="rect">
            <a:avLst/>
          </a:prstGeom>
        </p:spPr>
        <p:txBody>
          <a:bodyPr anchor="t" rtlCol="false" tIns="0" lIns="0" bIns="0" rIns="0">
            <a:spAutoFit/>
          </a:bodyPr>
          <a:lstStyle/>
          <a:p>
            <a:pPr algn="l">
              <a:lnSpc>
                <a:spcPts val="6031"/>
              </a:lnSpc>
            </a:pPr>
            <a:r>
              <a:rPr lang="en-US" b="true" sz="3999">
                <a:solidFill>
                  <a:srgbClr val="C00000"/>
                </a:solidFill>
                <a:latin typeface="Canva Sans Bold"/>
                <a:ea typeface="Canva Sans Bold"/>
                <a:cs typeface="Canva Sans Bold"/>
                <a:sym typeface="Canva Sans Bold"/>
              </a:rPr>
              <a:t>LITERATURE</a:t>
            </a:r>
          </a:p>
        </p:txBody>
      </p:sp>
      <p:sp>
        <p:nvSpPr>
          <p:cNvPr name="TextBox 11" id="11"/>
          <p:cNvSpPr txBox="true"/>
          <p:nvPr/>
        </p:nvSpPr>
        <p:spPr>
          <a:xfrm rot="0">
            <a:off x="8044224" y="1222261"/>
            <a:ext cx="107947" cy="640366"/>
          </a:xfrm>
          <a:prstGeom prst="rect">
            <a:avLst/>
          </a:prstGeom>
        </p:spPr>
        <p:txBody>
          <a:bodyPr anchor="t" rtlCol="false" tIns="0" lIns="0" bIns="0" rIns="0">
            <a:spAutoFit/>
          </a:bodyPr>
          <a:lstStyle/>
          <a:p>
            <a:pPr algn="l">
              <a:lnSpc>
                <a:spcPts val="5126"/>
              </a:lnSpc>
            </a:pPr>
            <a:r>
              <a:rPr lang="en-US" sz="3399">
                <a:solidFill>
                  <a:srgbClr val="000000"/>
                </a:solidFill>
                <a:latin typeface="Canva Sans"/>
                <a:ea typeface="Canva Sans"/>
                <a:cs typeface="Canva Sans"/>
                <a:sym typeface="Canva Sans"/>
              </a:rPr>
              <a:t> </a:t>
            </a:r>
          </a:p>
        </p:txBody>
      </p:sp>
      <p:sp>
        <p:nvSpPr>
          <p:cNvPr name="TextBox 12" id="12"/>
          <p:cNvSpPr txBox="true"/>
          <p:nvPr/>
        </p:nvSpPr>
        <p:spPr>
          <a:xfrm rot="0">
            <a:off x="383118" y="2161256"/>
            <a:ext cx="7015524" cy="5282338"/>
          </a:xfrm>
          <a:prstGeom prst="rect">
            <a:avLst/>
          </a:prstGeom>
        </p:spPr>
        <p:txBody>
          <a:bodyPr anchor="t" rtlCol="false" tIns="0" lIns="0" bIns="0" rIns="0">
            <a:spAutoFit/>
          </a:bodyPr>
          <a:lstStyle/>
          <a:p>
            <a:pPr algn="l">
              <a:lnSpc>
                <a:spcPts val="2847"/>
              </a:lnSpc>
            </a:pPr>
            <a:r>
              <a:rPr lang="en-US" sz="2033">
                <a:solidFill>
                  <a:srgbClr val="000000"/>
                </a:solidFill>
                <a:latin typeface="Canva Sans"/>
                <a:ea typeface="Canva Sans"/>
                <a:cs typeface="Canva Sans"/>
                <a:sym typeface="Canva Sans"/>
              </a:rPr>
              <a:t>🔹</a:t>
            </a:r>
            <a:r>
              <a:rPr lang="en-US" b="true" sz="2033">
                <a:solidFill>
                  <a:srgbClr val="000000"/>
                </a:solidFill>
                <a:latin typeface="Canva Sans Bold"/>
                <a:ea typeface="Canva Sans Bold"/>
                <a:cs typeface="Canva Sans Bold"/>
                <a:sym typeface="Canva Sans Bold"/>
              </a:rPr>
              <a:t> Literature Review – Foundations</a:t>
            </a:r>
          </a:p>
          <a:p>
            <a:pPr algn="l" marL="439123" indent="-219561" lvl="1">
              <a:lnSpc>
                <a:spcPts val="2847"/>
              </a:lnSpc>
              <a:buFont typeface="Arial"/>
              <a:buChar char="•"/>
            </a:pPr>
            <a:r>
              <a:rPr lang="en-US" b="true" sz="2033" i="true">
                <a:solidFill>
                  <a:srgbClr val="000000"/>
                </a:solidFill>
                <a:latin typeface="Canva Sans Bold Italics"/>
                <a:ea typeface="Canva Sans Bold Italics"/>
                <a:cs typeface="Canva Sans Bold Italics"/>
                <a:sym typeface="Canva Sans Bold Italics"/>
              </a:rPr>
              <a:t>Early team formation models [1] </a:t>
            </a:r>
            <a:r>
              <a:rPr lang="en-US" sz="2033">
                <a:solidFill>
                  <a:srgbClr val="000000"/>
                </a:solidFill>
                <a:latin typeface="Canva Sans"/>
                <a:ea typeface="Canva Sans"/>
                <a:cs typeface="Canva Sans"/>
                <a:sym typeface="Canva Sans"/>
              </a:rPr>
              <a:t>focused on role coverage and minimizing communication cost in organizations, forming the foundation of computational team selection.</a:t>
            </a:r>
          </a:p>
          <a:p>
            <a:pPr algn="l" marL="439123" indent="-219561" lvl="1">
              <a:lnSpc>
                <a:spcPts val="2847"/>
              </a:lnSpc>
              <a:buFont typeface="Arial"/>
              <a:buChar char="•"/>
            </a:pPr>
            <a:r>
              <a:rPr lang="en-US" b="true" sz="2033" i="true">
                <a:solidFill>
                  <a:srgbClr val="000000"/>
                </a:solidFill>
                <a:latin typeface="Canva Sans Bold Italics"/>
                <a:ea typeface="Canva Sans Bold Italics"/>
                <a:cs typeface="Canva Sans Bold Italics"/>
                <a:sym typeface="Canva Sans Bold Italics"/>
              </a:rPr>
              <a:t> Skill-optimized frameworks [2]</a:t>
            </a:r>
            <a:r>
              <a:rPr lang="en-US" sz="2033">
                <a:solidFill>
                  <a:srgbClr val="000000"/>
                </a:solidFill>
                <a:latin typeface="Canva Sans"/>
                <a:ea typeface="Canva Sans"/>
                <a:cs typeface="Canva Sans"/>
                <a:sym typeface="Canva Sans"/>
              </a:rPr>
              <a:t> introduced algorithms for forming optimal skill-balanced teams, influencing real-time systems.</a:t>
            </a:r>
          </a:p>
          <a:p>
            <a:pPr algn="l">
              <a:lnSpc>
                <a:spcPts val="2847"/>
              </a:lnSpc>
              <a:spcBef>
                <a:spcPct val="0"/>
              </a:spcBef>
            </a:pPr>
          </a:p>
          <a:p>
            <a:pPr algn="l">
              <a:lnSpc>
                <a:spcPts val="2847"/>
              </a:lnSpc>
              <a:spcBef>
                <a:spcPct val="0"/>
              </a:spcBef>
            </a:pPr>
            <a:r>
              <a:rPr lang="en-US" sz="2033">
                <a:solidFill>
                  <a:srgbClr val="000000"/>
                </a:solidFill>
                <a:latin typeface="Canva Sans"/>
                <a:ea typeface="Canva Sans"/>
                <a:cs typeface="Canva Sans"/>
                <a:sym typeface="Canva Sans"/>
              </a:rPr>
              <a:t>🔹 </a:t>
            </a:r>
            <a:r>
              <a:rPr lang="en-US" b="true" sz="2033">
                <a:solidFill>
                  <a:srgbClr val="000000"/>
                </a:solidFill>
                <a:latin typeface="Canva Sans Bold"/>
                <a:ea typeface="Canva Sans Bold"/>
                <a:cs typeface="Canva Sans Bold"/>
                <a:sym typeface="Canva Sans Bold"/>
              </a:rPr>
              <a:t>Graph-Based Team Modeling</a:t>
            </a:r>
          </a:p>
          <a:p>
            <a:pPr algn="l" marL="439123" indent="-219561" lvl="1">
              <a:lnSpc>
                <a:spcPts val="2847"/>
              </a:lnSpc>
              <a:buFont typeface="Arial"/>
              <a:buChar char="•"/>
            </a:pPr>
            <a:r>
              <a:rPr lang="en-US" b="true" sz="2033" i="true">
                <a:solidFill>
                  <a:srgbClr val="000000"/>
                </a:solidFill>
                <a:latin typeface="Canva Sans Bold Italics"/>
                <a:ea typeface="Canva Sans Bold Italics"/>
                <a:cs typeface="Canva Sans Bold Italics"/>
                <a:sym typeface="Canva Sans Bold Italics"/>
              </a:rPr>
              <a:t>GCNs [3]</a:t>
            </a:r>
            <a:r>
              <a:rPr lang="en-US" sz="2033">
                <a:solidFill>
                  <a:srgbClr val="000000"/>
                </a:solidFill>
                <a:latin typeface="Canva Sans"/>
                <a:ea typeface="Canva Sans"/>
                <a:cs typeface="Canva Sans"/>
                <a:sym typeface="Canva Sans"/>
              </a:rPr>
              <a:t> represent users as nodes and shared skills as edges, enabling relationship learning.</a:t>
            </a:r>
          </a:p>
          <a:p>
            <a:pPr algn="l" marL="439123" indent="-219561" lvl="1">
              <a:lnSpc>
                <a:spcPts val="2847"/>
              </a:lnSpc>
              <a:buFont typeface="Arial"/>
              <a:buChar char="•"/>
            </a:pPr>
            <a:r>
              <a:rPr lang="en-US" sz="2033">
                <a:solidFill>
                  <a:srgbClr val="000000"/>
                </a:solidFill>
                <a:latin typeface="Canva Sans"/>
                <a:ea typeface="Canva Sans"/>
                <a:cs typeface="Canva Sans"/>
                <a:sym typeface="Canva Sans"/>
              </a:rPr>
              <a:t> </a:t>
            </a:r>
            <a:r>
              <a:rPr lang="en-US" b="true" sz="2033" i="true">
                <a:solidFill>
                  <a:srgbClr val="000000"/>
                </a:solidFill>
                <a:latin typeface="Canva Sans Bold Italics"/>
                <a:ea typeface="Canva Sans Bold Italics"/>
                <a:cs typeface="Canva Sans Bold Italics"/>
                <a:sym typeface="Canva Sans Bold Italics"/>
              </a:rPr>
              <a:t>GATs [4] </a:t>
            </a:r>
            <a:r>
              <a:rPr lang="en-US" sz="2033">
                <a:solidFill>
                  <a:srgbClr val="000000"/>
                </a:solidFill>
                <a:latin typeface="Canva Sans"/>
                <a:ea typeface="Canva Sans"/>
                <a:cs typeface="Canva Sans"/>
                <a:sym typeface="Canva Sans"/>
              </a:rPr>
              <a:t>apply attention mechanisms to identify important connections, improving matchmaking accuracy in complex networks.</a:t>
            </a:r>
          </a:p>
        </p:txBody>
      </p:sp>
      <p:sp>
        <p:nvSpPr>
          <p:cNvPr name="TextBox 13" id="13"/>
          <p:cNvSpPr txBox="true"/>
          <p:nvPr/>
        </p:nvSpPr>
        <p:spPr>
          <a:xfrm rot="0">
            <a:off x="8044224" y="2180306"/>
            <a:ext cx="10174067" cy="2509874"/>
          </a:xfrm>
          <a:prstGeom prst="rect">
            <a:avLst/>
          </a:prstGeom>
        </p:spPr>
        <p:txBody>
          <a:bodyPr anchor="t" rtlCol="false" tIns="0" lIns="0" bIns="0" rIns="0">
            <a:spAutoFit/>
          </a:bodyPr>
          <a:lstStyle/>
          <a:p>
            <a:pPr algn="l">
              <a:lnSpc>
                <a:spcPts val="2885"/>
              </a:lnSpc>
              <a:spcBef>
                <a:spcPct val="0"/>
              </a:spcBef>
            </a:pPr>
            <a:r>
              <a:rPr lang="en-US" sz="2061">
                <a:solidFill>
                  <a:srgbClr val="000000"/>
                </a:solidFill>
                <a:latin typeface="Canva Sans"/>
                <a:ea typeface="Canva Sans"/>
                <a:cs typeface="Canva Sans"/>
                <a:sym typeface="Canva Sans"/>
              </a:rPr>
              <a:t>🔹 </a:t>
            </a:r>
            <a:r>
              <a:rPr lang="en-US" b="true" sz="2061">
                <a:solidFill>
                  <a:srgbClr val="000000"/>
                </a:solidFill>
                <a:latin typeface="Canva Sans Bold"/>
                <a:ea typeface="Canva Sans Bold"/>
                <a:cs typeface="Canva Sans Bold"/>
                <a:sym typeface="Canva Sans Bold"/>
              </a:rPr>
              <a:t>Recommendation System Approaches</a:t>
            </a:r>
          </a:p>
          <a:p>
            <a:pPr algn="l" marL="444984" indent="-222492" lvl="1">
              <a:lnSpc>
                <a:spcPts val="2885"/>
              </a:lnSpc>
              <a:buFont typeface="Arial"/>
              <a:buChar char="•"/>
            </a:pPr>
            <a:r>
              <a:rPr lang="en-US" sz="2061">
                <a:solidFill>
                  <a:srgbClr val="000000"/>
                </a:solidFill>
                <a:latin typeface="Canva Sans"/>
                <a:ea typeface="Canva Sans"/>
                <a:cs typeface="Canva Sans"/>
                <a:sym typeface="Canva Sans"/>
              </a:rPr>
              <a:t>Collaborative filtering methods [5–7] (memory-based, model-based, hybrid) support personalized teammate suggestions.</a:t>
            </a:r>
          </a:p>
          <a:p>
            <a:pPr algn="l" marL="444984" indent="-222492" lvl="1">
              <a:lnSpc>
                <a:spcPts val="2885"/>
              </a:lnSpc>
              <a:buFont typeface="Arial"/>
              <a:buChar char="•"/>
            </a:pPr>
            <a:r>
              <a:rPr lang="en-US" sz="2061">
                <a:solidFill>
                  <a:srgbClr val="000000"/>
                </a:solidFill>
                <a:latin typeface="Canva Sans"/>
                <a:ea typeface="Canva Sans"/>
                <a:cs typeface="Canva Sans"/>
                <a:sym typeface="Canva Sans"/>
              </a:rPr>
              <a:t> </a:t>
            </a:r>
            <a:r>
              <a:rPr lang="en-US" b="true" sz="2061" i="true">
                <a:solidFill>
                  <a:srgbClr val="000000"/>
                </a:solidFill>
                <a:latin typeface="Canva Sans Bold Italics"/>
                <a:ea typeface="Canva Sans Bold Italics"/>
                <a:cs typeface="Canva Sans Bold Italics"/>
                <a:sym typeface="Canva Sans Bold Italics"/>
              </a:rPr>
              <a:t>TF-IDF</a:t>
            </a:r>
            <a:r>
              <a:rPr lang="en-US" sz="2061">
                <a:solidFill>
                  <a:srgbClr val="000000"/>
                </a:solidFill>
                <a:latin typeface="Canva Sans"/>
                <a:ea typeface="Canva Sans"/>
                <a:cs typeface="Canva Sans"/>
                <a:sym typeface="Canva Sans"/>
              </a:rPr>
              <a:t> similarity techniques help match participants based on skill similarity.</a:t>
            </a:r>
          </a:p>
          <a:p>
            <a:pPr algn="l" marL="444984" indent="-222492" lvl="1">
              <a:lnSpc>
                <a:spcPts val="2885"/>
              </a:lnSpc>
              <a:buFont typeface="Arial"/>
              <a:buChar char="•"/>
            </a:pPr>
            <a:r>
              <a:rPr lang="en-US" sz="2061">
                <a:solidFill>
                  <a:srgbClr val="000000"/>
                </a:solidFill>
                <a:latin typeface="Canva Sans"/>
                <a:ea typeface="Canva Sans"/>
                <a:cs typeface="Canva Sans"/>
                <a:sym typeface="Canva Sans"/>
              </a:rPr>
              <a:t> </a:t>
            </a:r>
            <a:r>
              <a:rPr lang="en-US" b="true" sz="2061" i="true">
                <a:solidFill>
                  <a:srgbClr val="000000"/>
                </a:solidFill>
                <a:latin typeface="Canva Sans Bold Italics"/>
                <a:ea typeface="Canva Sans Bold Italics"/>
                <a:cs typeface="Canva Sans Bold Italics"/>
                <a:sym typeface="Canva Sans Bold Italics"/>
              </a:rPr>
              <a:t>Factorization Machines [12–13]</a:t>
            </a:r>
            <a:r>
              <a:rPr lang="en-US" sz="2061">
                <a:solidFill>
                  <a:srgbClr val="000000"/>
                </a:solidFill>
                <a:latin typeface="Canva Sans"/>
                <a:ea typeface="Canva Sans"/>
                <a:cs typeface="Canva Sans"/>
                <a:sym typeface="Canva Sans"/>
              </a:rPr>
              <a:t> improve prediction by learning hidden interaction patterns among users.</a:t>
            </a:r>
          </a:p>
        </p:txBody>
      </p:sp>
      <p:sp>
        <p:nvSpPr>
          <p:cNvPr name="TextBox 14" id="14"/>
          <p:cNvSpPr txBox="true"/>
          <p:nvPr/>
        </p:nvSpPr>
        <p:spPr>
          <a:xfrm rot="0">
            <a:off x="8098198" y="4994980"/>
            <a:ext cx="9962798" cy="3967263"/>
          </a:xfrm>
          <a:prstGeom prst="rect">
            <a:avLst/>
          </a:prstGeom>
        </p:spPr>
        <p:txBody>
          <a:bodyPr anchor="t" rtlCol="false" tIns="0" lIns="0" bIns="0" rIns="0">
            <a:spAutoFit/>
          </a:bodyPr>
          <a:lstStyle/>
          <a:p>
            <a:pPr algn="l">
              <a:lnSpc>
                <a:spcPts val="2881"/>
              </a:lnSpc>
              <a:spcBef>
                <a:spcPct val="0"/>
              </a:spcBef>
            </a:pPr>
            <a:r>
              <a:rPr lang="en-US" sz="2058">
                <a:solidFill>
                  <a:srgbClr val="000000"/>
                </a:solidFill>
                <a:latin typeface="Canva Sans"/>
                <a:ea typeface="Canva Sans"/>
                <a:cs typeface="Canva Sans"/>
                <a:sym typeface="Canva Sans"/>
              </a:rPr>
              <a:t>🔹 </a:t>
            </a:r>
            <a:r>
              <a:rPr lang="en-US" b="true" sz="2058">
                <a:solidFill>
                  <a:srgbClr val="000000"/>
                </a:solidFill>
                <a:latin typeface="Canva Sans Bold"/>
                <a:ea typeface="Canva Sans Bold"/>
                <a:cs typeface="Canva Sans Bold"/>
                <a:sym typeface="Canva Sans Bold"/>
              </a:rPr>
              <a:t>Optimization &amp; Compatibility Research</a:t>
            </a:r>
          </a:p>
          <a:p>
            <a:pPr algn="l" marL="444437" indent="-222219" lvl="1">
              <a:lnSpc>
                <a:spcPts val="2881"/>
              </a:lnSpc>
              <a:buFont typeface="Arial"/>
              <a:buChar char="•"/>
            </a:pPr>
            <a:r>
              <a:rPr lang="en-US" sz="2058">
                <a:solidFill>
                  <a:srgbClr val="000000"/>
                </a:solidFill>
                <a:latin typeface="Canva Sans"/>
                <a:ea typeface="Canva Sans"/>
                <a:cs typeface="Canva Sans"/>
                <a:sym typeface="Canva Sans"/>
              </a:rPr>
              <a:t>Multi-objective</a:t>
            </a:r>
            <a:r>
              <a:rPr lang="en-US" b="true" sz="2058" i="true">
                <a:solidFill>
                  <a:srgbClr val="000000"/>
                </a:solidFill>
                <a:latin typeface="Canva Sans Bold Italics"/>
                <a:ea typeface="Canva Sans Bold Italics"/>
                <a:cs typeface="Canva Sans Bold Italics"/>
                <a:sym typeface="Canva Sans Bold Italics"/>
              </a:rPr>
              <a:t> optimization models</a:t>
            </a:r>
            <a:r>
              <a:rPr lang="en-US" sz="2058">
                <a:solidFill>
                  <a:srgbClr val="000000"/>
                </a:solidFill>
                <a:latin typeface="Canva Sans"/>
                <a:ea typeface="Canva Sans"/>
                <a:cs typeface="Canva Sans"/>
                <a:sym typeface="Canva Sans"/>
              </a:rPr>
              <a:t> [8] balance skill diversity and communication efficiency for better teams.</a:t>
            </a:r>
          </a:p>
          <a:p>
            <a:pPr algn="l" marL="444437" indent="-222219" lvl="1">
              <a:lnSpc>
                <a:spcPts val="2881"/>
              </a:lnSpc>
              <a:buFont typeface="Arial"/>
              <a:buChar char="•"/>
            </a:pPr>
            <a:r>
              <a:rPr lang="en-US" sz="2058">
                <a:solidFill>
                  <a:srgbClr val="000000"/>
                </a:solidFill>
                <a:latin typeface="Canva Sans"/>
                <a:ea typeface="Canva Sans"/>
                <a:cs typeface="Canva Sans"/>
                <a:sym typeface="Canva Sans"/>
              </a:rPr>
              <a:t> </a:t>
            </a:r>
            <a:r>
              <a:rPr lang="en-US" b="true" sz="2058" i="true">
                <a:solidFill>
                  <a:srgbClr val="000000"/>
                </a:solidFill>
                <a:latin typeface="Canva Sans Bold Italics"/>
                <a:ea typeface="Canva Sans Bold Italics"/>
                <a:cs typeface="Canva Sans Bold Italics"/>
                <a:sym typeface="Canva Sans Bold Italics"/>
              </a:rPr>
              <a:t>Social network analysis [9] </a:t>
            </a:r>
            <a:r>
              <a:rPr lang="en-US" sz="2058">
                <a:solidFill>
                  <a:srgbClr val="000000"/>
                </a:solidFill>
                <a:latin typeface="Canva Sans"/>
                <a:ea typeface="Canva Sans"/>
                <a:cs typeface="Canva Sans"/>
                <a:sym typeface="Canva Sans"/>
              </a:rPr>
              <a:t>predicts collaboration likelihood from interaction patterns.</a:t>
            </a:r>
          </a:p>
          <a:p>
            <a:pPr algn="l" marL="444437" indent="-222219" lvl="1">
              <a:lnSpc>
                <a:spcPts val="2881"/>
              </a:lnSpc>
              <a:buFont typeface="Arial"/>
              <a:buChar char="•"/>
            </a:pPr>
            <a:r>
              <a:rPr lang="en-US" sz="2058">
                <a:solidFill>
                  <a:srgbClr val="000000"/>
                </a:solidFill>
                <a:latin typeface="Canva Sans"/>
                <a:ea typeface="Canva Sans"/>
                <a:cs typeface="Canva Sans"/>
                <a:sym typeface="Canva Sans"/>
              </a:rPr>
              <a:t> </a:t>
            </a:r>
            <a:r>
              <a:rPr lang="en-US" b="true" sz="2058" i="true">
                <a:solidFill>
                  <a:srgbClr val="000000"/>
                </a:solidFill>
                <a:latin typeface="Canva Sans Bold Italics"/>
                <a:ea typeface="Canva Sans Bold Italics"/>
                <a:cs typeface="Canva Sans Bold Italics"/>
                <a:sym typeface="Canva Sans Bold Italics"/>
              </a:rPr>
              <a:t>Dynamic and preference-aware models</a:t>
            </a:r>
            <a:r>
              <a:rPr lang="en-US" sz="2058">
                <a:solidFill>
                  <a:srgbClr val="000000"/>
                </a:solidFill>
                <a:latin typeface="Canva Sans"/>
                <a:ea typeface="Canva Sans"/>
                <a:cs typeface="Canva Sans"/>
                <a:sym typeface="Canva Sans"/>
              </a:rPr>
              <a:t> [10–11] allow real-time updates and interpersonal compatibility assessment.</a:t>
            </a:r>
          </a:p>
          <a:p>
            <a:pPr algn="l">
              <a:lnSpc>
                <a:spcPts val="2881"/>
              </a:lnSpc>
            </a:pPr>
          </a:p>
          <a:p>
            <a:pPr algn="l">
              <a:lnSpc>
                <a:spcPts val="2881"/>
              </a:lnSpc>
              <a:spcBef>
                <a:spcPct val="0"/>
              </a:spcBef>
            </a:pPr>
            <a:r>
              <a:rPr lang="en-US" sz="2058">
                <a:solidFill>
                  <a:srgbClr val="000000"/>
                </a:solidFill>
                <a:latin typeface="Canva Sans"/>
                <a:ea typeface="Canva Sans"/>
                <a:cs typeface="Canva Sans"/>
                <a:sym typeface="Canva Sans"/>
              </a:rPr>
              <a:t>🔹 </a:t>
            </a:r>
            <a:r>
              <a:rPr lang="en-US" b="true" sz="2058">
                <a:solidFill>
                  <a:srgbClr val="000000"/>
                </a:solidFill>
                <a:latin typeface="Canva Sans Bold"/>
                <a:ea typeface="Canva Sans Bold"/>
                <a:cs typeface="Canva Sans Bold"/>
                <a:sym typeface="Canva Sans Bold"/>
              </a:rPr>
              <a:t>Identified Research Gaps</a:t>
            </a:r>
          </a:p>
          <a:p>
            <a:pPr algn="l" marL="444437" indent="-222219" lvl="1">
              <a:lnSpc>
                <a:spcPts val="2881"/>
              </a:lnSpc>
              <a:buFont typeface="Arial"/>
              <a:buChar char="•"/>
            </a:pPr>
            <a:r>
              <a:rPr lang="en-US" sz="2058">
                <a:solidFill>
                  <a:srgbClr val="000000"/>
                </a:solidFill>
                <a:latin typeface="Canva Sans"/>
                <a:ea typeface="Canva Sans"/>
                <a:cs typeface="Canva Sans"/>
                <a:sym typeface="Canva Sans"/>
              </a:rPr>
              <a:t>Studies highlight visibility gaps, skill mismatches, and lack of automated matching as major barriers to effective team formation [15].</a:t>
            </a:r>
          </a:p>
        </p:txBody>
      </p:sp>
      <p:sp>
        <p:nvSpPr>
          <p:cNvPr name="TextBox 15" id="15"/>
          <p:cNvSpPr txBox="true"/>
          <p:nvPr/>
        </p:nvSpPr>
        <p:spPr>
          <a:xfrm rot="0">
            <a:off x="436331" y="7595995"/>
            <a:ext cx="6909099" cy="1443679"/>
          </a:xfrm>
          <a:prstGeom prst="rect">
            <a:avLst/>
          </a:prstGeom>
        </p:spPr>
        <p:txBody>
          <a:bodyPr anchor="t" rtlCol="false" tIns="0" lIns="0" bIns="0" rIns="0">
            <a:spAutoFit/>
          </a:bodyPr>
          <a:lstStyle/>
          <a:p>
            <a:pPr algn="l">
              <a:lnSpc>
                <a:spcPts val="2852"/>
              </a:lnSpc>
              <a:spcBef>
                <a:spcPct val="0"/>
              </a:spcBef>
            </a:pPr>
            <a:r>
              <a:rPr lang="en-US" sz="2037">
                <a:solidFill>
                  <a:srgbClr val="000000"/>
                </a:solidFill>
                <a:latin typeface="Canva Sans"/>
                <a:ea typeface="Canva Sans"/>
                <a:cs typeface="Canva Sans"/>
                <a:sym typeface="Canva Sans"/>
              </a:rPr>
              <a:t>🔹 </a:t>
            </a:r>
            <a:r>
              <a:rPr lang="en-US" b="true" sz="2037">
                <a:solidFill>
                  <a:srgbClr val="000000"/>
                </a:solidFill>
                <a:latin typeface="Canva Sans Bold"/>
                <a:ea typeface="Canva Sans Bold"/>
                <a:cs typeface="Canva Sans Bold"/>
                <a:sym typeface="Canva Sans Bold"/>
              </a:rPr>
              <a:t>Engagement &amp; Participation Studies</a:t>
            </a:r>
          </a:p>
          <a:p>
            <a:pPr algn="l" marL="439840" indent="-219920" lvl="1">
              <a:lnSpc>
                <a:spcPts val="2852"/>
              </a:lnSpc>
              <a:buFont typeface="Arial"/>
              <a:buChar char="•"/>
            </a:pPr>
            <a:r>
              <a:rPr lang="en-US" b="true" sz="2037" i="true">
                <a:solidFill>
                  <a:srgbClr val="000000"/>
                </a:solidFill>
                <a:latin typeface="Canva Sans Bold Italics"/>
                <a:ea typeface="Canva Sans Bold Italics"/>
                <a:cs typeface="Canva Sans Bold Italics"/>
                <a:sym typeface="Canva Sans Bold Italics"/>
              </a:rPr>
              <a:t>Gamification techniques </a:t>
            </a:r>
            <a:r>
              <a:rPr lang="en-US" sz="2037">
                <a:solidFill>
                  <a:srgbClr val="000000"/>
                </a:solidFill>
                <a:latin typeface="Canva Sans"/>
                <a:ea typeface="Canva Sans"/>
                <a:cs typeface="Canva Sans"/>
                <a:sym typeface="Canva Sans"/>
              </a:rPr>
              <a:t>such as badges and leaderboards increase motivation and retention in collaborative platforms.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720" y="0"/>
            <a:ext cx="2060629" cy="2358038"/>
            <a:chOff x="0" y="0"/>
            <a:chExt cx="2747505" cy="3144050"/>
          </a:xfrm>
        </p:grpSpPr>
        <p:sp>
          <p:nvSpPr>
            <p:cNvPr name="Freeform 3" id="3"/>
            <p:cNvSpPr/>
            <p:nvPr/>
          </p:nvSpPr>
          <p:spPr>
            <a:xfrm flipH="false" flipV="false" rot="0">
              <a:off x="0" y="0"/>
              <a:ext cx="2747518" cy="3144012"/>
            </a:xfrm>
            <a:custGeom>
              <a:avLst/>
              <a:gdLst/>
              <a:ahLst/>
              <a:cxnLst/>
              <a:rect r="r" b="b" t="t" l="l"/>
              <a:pathLst>
                <a:path h="3144012" w="2747518">
                  <a:moveTo>
                    <a:pt x="0" y="0"/>
                  </a:moveTo>
                  <a:lnTo>
                    <a:pt x="2747518" y="0"/>
                  </a:lnTo>
                  <a:lnTo>
                    <a:pt x="2747518" y="3144012"/>
                  </a:lnTo>
                  <a:lnTo>
                    <a:pt x="0" y="3144012"/>
                  </a:lnTo>
                  <a:lnTo>
                    <a:pt x="0" y="0"/>
                  </a:lnTo>
                  <a:close/>
                </a:path>
              </a:pathLst>
            </a:custGeom>
            <a:blipFill>
              <a:blip r:embed="rId2"/>
              <a:stretch>
                <a:fillRect l="0" t="0" r="0" b="-1"/>
              </a:stretch>
            </a:blipFill>
          </p:spPr>
        </p:sp>
      </p:grpSp>
      <p:grpSp>
        <p:nvGrpSpPr>
          <p:cNvPr name="Group 4" id="4"/>
          <p:cNvGrpSpPr/>
          <p:nvPr/>
        </p:nvGrpSpPr>
        <p:grpSpPr>
          <a:xfrm rot="0">
            <a:off x="15550189" y="-29603"/>
            <a:ext cx="2707657" cy="2707657"/>
            <a:chOff x="0" y="0"/>
            <a:chExt cx="4209364" cy="4209364"/>
          </a:xfrm>
        </p:grpSpPr>
        <p:sp>
          <p:nvSpPr>
            <p:cNvPr name="Freeform 5" id="5"/>
            <p:cNvSpPr/>
            <p:nvPr/>
          </p:nvSpPr>
          <p:spPr>
            <a:xfrm flipH="false" flipV="false" rot="0">
              <a:off x="0" y="0"/>
              <a:ext cx="4209415" cy="4209415"/>
            </a:xfrm>
            <a:custGeom>
              <a:avLst/>
              <a:gdLst/>
              <a:ahLst/>
              <a:cxnLst/>
              <a:rect r="r" b="b" t="t" l="l"/>
              <a:pathLst>
                <a:path h="4209415" w="4209415">
                  <a:moveTo>
                    <a:pt x="0" y="0"/>
                  </a:moveTo>
                  <a:lnTo>
                    <a:pt x="4209415" y="0"/>
                  </a:lnTo>
                  <a:lnTo>
                    <a:pt x="4209415" y="4209415"/>
                  </a:lnTo>
                  <a:lnTo>
                    <a:pt x="0" y="4209415"/>
                  </a:lnTo>
                  <a:lnTo>
                    <a:pt x="0" y="0"/>
                  </a:lnTo>
                  <a:close/>
                </a:path>
              </a:pathLst>
            </a:custGeom>
            <a:blipFill>
              <a:blip r:embed="rId3"/>
              <a:stretch>
                <a:fillRect l="0" t="0" r="1" b="1"/>
              </a:stretch>
            </a:blipFill>
          </p:spPr>
        </p:sp>
      </p:grpSp>
      <p:grpSp>
        <p:nvGrpSpPr>
          <p:cNvPr name="Group 6" id="6"/>
          <p:cNvGrpSpPr/>
          <p:nvPr/>
        </p:nvGrpSpPr>
        <p:grpSpPr>
          <a:xfrm rot="0">
            <a:off x="44221" y="9379986"/>
            <a:ext cx="2171612" cy="907014"/>
            <a:chOff x="0" y="0"/>
            <a:chExt cx="4636420" cy="1936486"/>
          </a:xfrm>
        </p:grpSpPr>
        <p:sp>
          <p:nvSpPr>
            <p:cNvPr name="Freeform 7" id="7"/>
            <p:cNvSpPr/>
            <p:nvPr/>
          </p:nvSpPr>
          <p:spPr>
            <a:xfrm flipH="false" flipV="false" rot="0">
              <a:off x="0" y="0"/>
              <a:ext cx="4636433" cy="1936537"/>
            </a:xfrm>
            <a:custGeom>
              <a:avLst/>
              <a:gdLst/>
              <a:ahLst/>
              <a:cxnLst/>
              <a:rect r="r" b="b" t="t" l="l"/>
              <a:pathLst>
                <a:path h="1936537" w="4636433">
                  <a:moveTo>
                    <a:pt x="0" y="0"/>
                  </a:moveTo>
                  <a:lnTo>
                    <a:pt x="4636433" y="0"/>
                  </a:lnTo>
                  <a:lnTo>
                    <a:pt x="4636433" y="1936537"/>
                  </a:lnTo>
                  <a:lnTo>
                    <a:pt x="0" y="1936537"/>
                  </a:lnTo>
                  <a:lnTo>
                    <a:pt x="0" y="0"/>
                  </a:lnTo>
                  <a:close/>
                </a:path>
              </a:pathLst>
            </a:custGeom>
            <a:blipFill>
              <a:blip r:embed="rId4"/>
              <a:stretch>
                <a:fillRect l="0" t="-10502" r="0" b="-23940"/>
              </a:stretch>
            </a:blipFill>
          </p:spPr>
        </p:sp>
      </p:grpSp>
      <p:grpSp>
        <p:nvGrpSpPr>
          <p:cNvPr name="Group 8" id="8"/>
          <p:cNvGrpSpPr/>
          <p:nvPr/>
        </p:nvGrpSpPr>
        <p:grpSpPr>
          <a:xfrm rot="0">
            <a:off x="13892455" y="9059325"/>
            <a:ext cx="4343391" cy="1548336"/>
            <a:chOff x="0" y="0"/>
            <a:chExt cx="6757010" cy="2408746"/>
          </a:xfrm>
        </p:grpSpPr>
        <p:sp>
          <p:nvSpPr>
            <p:cNvPr name="Freeform 9" id="9"/>
            <p:cNvSpPr/>
            <p:nvPr/>
          </p:nvSpPr>
          <p:spPr>
            <a:xfrm flipH="false" flipV="false" rot="0">
              <a:off x="0" y="0"/>
              <a:ext cx="6757035" cy="2408809"/>
            </a:xfrm>
            <a:custGeom>
              <a:avLst/>
              <a:gdLst/>
              <a:ahLst/>
              <a:cxnLst/>
              <a:rect r="r" b="b" t="t" l="l"/>
              <a:pathLst>
                <a:path h="2408809" w="6757035">
                  <a:moveTo>
                    <a:pt x="0" y="0"/>
                  </a:moveTo>
                  <a:lnTo>
                    <a:pt x="6757035" y="0"/>
                  </a:lnTo>
                  <a:lnTo>
                    <a:pt x="6757035" y="2408809"/>
                  </a:lnTo>
                  <a:lnTo>
                    <a:pt x="0" y="2408809"/>
                  </a:lnTo>
                  <a:lnTo>
                    <a:pt x="0" y="0"/>
                  </a:lnTo>
                  <a:close/>
                </a:path>
              </a:pathLst>
            </a:custGeom>
            <a:blipFill>
              <a:blip r:embed="rId5"/>
              <a:stretch>
                <a:fillRect l="0" t="0" r="0" b="2"/>
              </a:stretch>
            </a:blipFill>
          </p:spPr>
        </p:sp>
      </p:grpSp>
      <p:sp>
        <p:nvSpPr>
          <p:cNvPr name="TextBox 10" id="10"/>
          <p:cNvSpPr txBox="true"/>
          <p:nvPr/>
        </p:nvSpPr>
        <p:spPr>
          <a:xfrm rot="0">
            <a:off x="5870531" y="1257550"/>
            <a:ext cx="7009619" cy="580396"/>
          </a:xfrm>
          <a:prstGeom prst="rect">
            <a:avLst/>
          </a:prstGeom>
        </p:spPr>
        <p:txBody>
          <a:bodyPr anchor="t" rtlCol="false" tIns="0" lIns="0" bIns="0" rIns="0">
            <a:spAutoFit/>
          </a:bodyPr>
          <a:lstStyle/>
          <a:p>
            <a:pPr algn="l">
              <a:lnSpc>
                <a:spcPts val="4759"/>
              </a:lnSpc>
            </a:pPr>
            <a:r>
              <a:rPr lang="en-US" b="true" sz="3399" i="true">
                <a:solidFill>
                  <a:srgbClr val="000000"/>
                </a:solidFill>
                <a:latin typeface="Canva Sans Bold Italics"/>
                <a:ea typeface="Canva Sans Bold Italics"/>
                <a:cs typeface="Canva Sans Bold Italics"/>
                <a:sym typeface="Canva Sans Bold Italics"/>
              </a:rPr>
              <a:t>Design &amp; Development Approach</a:t>
            </a:r>
          </a:p>
        </p:txBody>
      </p:sp>
      <p:sp>
        <p:nvSpPr>
          <p:cNvPr name="TextBox 11" id="11"/>
          <p:cNvSpPr txBox="true"/>
          <p:nvPr/>
        </p:nvSpPr>
        <p:spPr>
          <a:xfrm rot="0">
            <a:off x="6905939" y="429768"/>
            <a:ext cx="4107447" cy="679456"/>
          </a:xfrm>
          <a:prstGeom prst="rect">
            <a:avLst/>
          </a:prstGeom>
        </p:spPr>
        <p:txBody>
          <a:bodyPr anchor="t" rtlCol="false" tIns="0" lIns="0" bIns="0" rIns="0">
            <a:spAutoFit/>
          </a:bodyPr>
          <a:lstStyle/>
          <a:p>
            <a:pPr algn="ctr">
              <a:lnSpc>
                <a:spcPts val="5599"/>
              </a:lnSpc>
            </a:pPr>
            <a:r>
              <a:rPr lang="en-US" b="true" sz="3999">
                <a:solidFill>
                  <a:srgbClr val="C00000"/>
                </a:solidFill>
                <a:latin typeface="Canva Sans Bold"/>
                <a:ea typeface="Canva Sans Bold"/>
                <a:cs typeface="Canva Sans Bold"/>
                <a:sym typeface="Canva Sans Bold"/>
              </a:rPr>
              <a:t>METHODOLOGY</a:t>
            </a:r>
          </a:p>
        </p:txBody>
      </p:sp>
      <p:sp>
        <p:nvSpPr>
          <p:cNvPr name="TextBox 12" id="12"/>
          <p:cNvSpPr txBox="true"/>
          <p:nvPr/>
        </p:nvSpPr>
        <p:spPr>
          <a:xfrm rot="0">
            <a:off x="350334" y="2630429"/>
            <a:ext cx="9663426" cy="5786852"/>
          </a:xfrm>
          <a:prstGeom prst="rect">
            <a:avLst/>
          </a:prstGeom>
        </p:spPr>
        <p:txBody>
          <a:bodyPr anchor="t" rtlCol="false" tIns="0" lIns="0" bIns="0" rIns="0">
            <a:spAutoFit/>
          </a:bodyPr>
          <a:lstStyle/>
          <a:p>
            <a:pPr algn="l">
              <a:lnSpc>
                <a:spcPts val="2864"/>
              </a:lnSpc>
              <a:spcBef>
                <a:spcPct val="0"/>
              </a:spcBef>
            </a:pPr>
            <a:r>
              <a:rPr lang="en-US" sz="2046">
                <a:solidFill>
                  <a:srgbClr val="000000"/>
                </a:solidFill>
                <a:latin typeface="Canva Sans"/>
                <a:ea typeface="Canva Sans"/>
                <a:cs typeface="Canva Sans"/>
                <a:sym typeface="Canva Sans"/>
              </a:rPr>
              <a:t>🔹 </a:t>
            </a:r>
            <a:r>
              <a:rPr lang="en-US" b="true" sz="2046">
                <a:solidFill>
                  <a:srgbClr val="000000"/>
                </a:solidFill>
                <a:latin typeface="Canva Sans Bold"/>
                <a:ea typeface="Canva Sans Bold"/>
                <a:cs typeface="Canva Sans Bold"/>
                <a:sym typeface="Canva Sans Bold"/>
              </a:rPr>
              <a:t>Layered &amp; Modular Architecture</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Four-layer architecture: Presentation, Application, Intelligence, Data Layer</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Frontend: React.js | Backend: Node.js/Express | Database: MongoDB</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Scalable system design supporting real-time updates (team seats, joins/leaves).</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AI modules designed as modular components for flexible integration.</a:t>
            </a:r>
          </a:p>
          <a:p>
            <a:pPr algn="l">
              <a:lnSpc>
                <a:spcPts val="2864"/>
              </a:lnSpc>
              <a:spcBef>
                <a:spcPct val="0"/>
              </a:spcBef>
            </a:pPr>
          </a:p>
          <a:p>
            <a:pPr algn="l">
              <a:lnSpc>
                <a:spcPts val="2864"/>
              </a:lnSpc>
              <a:spcBef>
                <a:spcPct val="0"/>
              </a:spcBef>
            </a:pPr>
            <a:r>
              <a:rPr lang="en-US" sz="2046">
                <a:solidFill>
                  <a:srgbClr val="000000"/>
                </a:solidFill>
                <a:latin typeface="Canva Sans"/>
                <a:ea typeface="Canva Sans"/>
                <a:cs typeface="Canva Sans"/>
                <a:sym typeface="Canva Sans"/>
              </a:rPr>
              <a:t>🔹 </a:t>
            </a:r>
            <a:r>
              <a:rPr lang="en-US" b="true" sz="2046">
                <a:solidFill>
                  <a:srgbClr val="000000"/>
                </a:solidFill>
                <a:latin typeface="Canva Sans Bold"/>
                <a:ea typeface="Canva Sans Bold"/>
                <a:cs typeface="Canva Sans Bold"/>
                <a:sym typeface="Canva Sans Bold"/>
              </a:rPr>
              <a:t>AI-Based Matchmaking Engine</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Participant profiling based on skills, interests, experience, and preferences</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Text preprocessing and normalization of skill inputs</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TF-IDF vectorization + Cosine Similarity for compatibility scoring</a:t>
            </a:r>
          </a:p>
          <a:p>
            <a:pPr algn="l" marL="441769" indent="-220884" lvl="1">
              <a:lnSpc>
                <a:spcPts val="2864"/>
              </a:lnSpc>
              <a:buFont typeface="Arial"/>
              <a:buChar char="•"/>
            </a:pPr>
            <a:r>
              <a:rPr lang="en-US" b="true" sz="2046" i="true">
                <a:solidFill>
                  <a:srgbClr val="000000"/>
                </a:solidFill>
                <a:latin typeface="Canva Sans Bold Italics"/>
                <a:ea typeface="Canva Sans Bold Italics"/>
                <a:cs typeface="Canva Sans Bold Italics"/>
                <a:sym typeface="Canva Sans Bold Italics"/>
              </a:rPr>
              <a:t>Graph Neural Networks (GCN/GAT)</a:t>
            </a:r>
            <a:r>
              <a:rPr lang="en-US" sz="2046">
                <a:solidFill>
                  <a:srgbClr val="000000"/>
                </a:solidFill>
                <a:latin typeface="Canva Sans"/>
                <a:ea typeface="Canva Sans"/>
                <a:cs typeface="Canva Sans"/>
                <a:sym typeface="Canva Sans"/>
              </a:rPr>
              <a:t> model participants as nodes and shared attributes as edges</a:t>
            </a:r>
          </a:p>
          <a:p>
            <a:pPr algn="l" marL="441769" indent="-220884" lvl="1">
              <a:lnSpc>
                <a:spcPts val="2864"/>
              </a:lnSpc>
              <a:buFont typeface="Arial"/>
              <a:buChar char="•"/>
            </a:pPr>
            <a:r>
              <a:rPr lang="en-US" sz="2046">
                <a:solidFill>
                  <a:srgbClr val="000000"/>
                </a:solidFill>
                <a:latin typeface="Canva Sans"/>
                <a:ea typeface="Canva Sans"/>
                <a:cs typeface="Canva Sans"/>
                <a:sym typeface="Canva Sans"/>
              </a:rPr>
              <a:t>System generates Top-N ranked teammate recommendations</a:t>
            </a:r>
          </a:p>
        </p:txBody>
      </p:sp>
      <p:sp>
        <p:nvSpPr>
          <p:cNvPr name="TextBox 13" id="13"/>
          <p:cNvSpPr txBox="true"/>
          <p:nvPr/>
        </p:nvSpPr>
        <p:spPr>
          <a:xfrm rot="0">
            <a:off x="9688180" y="2639954"/>
            <a:ext cx="8547667" cy="5697844"/>
          </a:xfrm>
          <a:prstGeom prst="rect">
            <a:avLst/>
          </a:prstGeom>
        </p:spPr>
        <p:txBody>
          <a:bodyPr anchor="t" rtlCol="false" tIns="0" lIns="0" bIns="0" rIns="0">
            <a:spAutoFit/>
          </a:bodyPr>
          <a:lstStyle/>
          <a:p>
            <a:pPr algn="l">
              <a:lnSpc>
                <a:spcPts val="3045"/>
              </a:lnSpc>
              <a:spcBef>
                <a:spcPct val="0"/>
              </a:spcBef>
            </a:pPr>
            <a:r>
              <a:rPr lang="en-US" sz="2175">
                <a:solidFill>
                  <a:srgbClr val="000000"/>
                </a:solidFill>
                <a:latin typeface="Canva Sans"/>
                <a:ea typeface="Canva Sans"/>
                <a:cs typeface="Canva Sans"/>
                <a:sym typeface="Canva Sans"/>
              </a:rPr>
              <a:t>🔹 </a:t>
            </a:r>
            <a:r>
              <a:rPr lang="en-US" b="true" sz="2175">
                <a:solidFill>
                  <a:srgbClr val="000000"/>
                </a:solidFill>
                <a:latin typeface="Canva Sans Bold"/>
                <a:ea typeface="Canva Sans Bold"/>
                <a:cs typeface="Canva Sans Bold"/>
                <a:sym typeface="Canva Sans Bold"/>
              </a:rPr>
              <a:t>Adaptive Learning &amp; Recommendation Logic</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Learns hidden collaboration patterns from user interactions</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Continuously improves recommendations using feedback data</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Adapts to changing team requirements and participant availability</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Supports dynamic matchmaking in real time</a:t>
            </a:r>
          </a:p>
          <a:p>
            <a:pPr algn="l">
              <a:lnSpc>
                <a:spcPts val="3045"/>
              </a:lnSpc>
              <a:spcBef>
                <a:spcPct val="0"/>
              </a:spcBef>
            </a:pPr>
          </a:p>
          <a:p>
            <a:pPr algn="l">
              <a:lnSpc>
                <a:spcPts val="3045"/>
              </a:lnSpc>
              <a:spcBef>
                <a:spcPct val="0"/>
              </a:spcBef>
            </a:pPr>
          </a:p>
          <a:p>
            <a:pPr algn="l">
              <a:lnSpc>
                <a:spcPts val="3045"/>
              </a:lnSpc>
              <a:spcBef>
                <a:spcPct val="0"/>
              </a:spcBef>
            </a:pPr>
            <a:r>
              <a:rPr lang="en-US" sz="2175">
                <a:solidFill>
                  <a:srgbClr val="000000"/>
                </a:solidFill>
                <a:latin typeface="Canva Sans"/>
                <a:ea typeface="Canva Sans"/>
                <a:cs typeface="Canva Sans"/>
                <a:sym typeface="Canva Sans"/>
              </a:rPr>
              <a:t>🔹 </a:t>
            </a:r>
            <a:r>
              <a:rPr lang="en-US" b="true" sz="2175">
                <a:solidFill>
                  <a:srgbClr val="000000"/>
                </a:solidFill>
                <a:latin typeface="Canva Sans Bold"/>
                <a:ea typeface="Canva Sans Bold"/>
                <a:cs typeface="Canva Sans Bold"/>
                <a:sym typeface="Canva Sans Bold"/>
              </a:rPr>
              <a:t>Engagement &amp; System Intelligence</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Real-time seat availability and live team updates</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Transparent, data-driven decision support for team formation</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Feedback loop for continuous model improvement</a:t>
            </a:r>
          </a:p>
          <a:p>
            <a:pPr algn="l" marL="469680" indent="-234840" lvl="1">
              <a:lnSpc>
                <a:spcPts val="3045"/>
              </a:lnSpc>
              <a:buFont typeface="Arial"/>
              <a:buChar char="•"/>
            </a:pPr>
            <a:r>
              <a:rPr lang="en-US" sz="2175">
                <a:solidFill>
                  <a:srgbClr val="000000"/>
                </a:solidFill>
                <a:latin typeface="Canva Sans"/>
                <a:ea typeface="Canva Sans"/>
                <a:cs typeface="Canva Sans"/>
                <a:sym typeface="Canva Sans"/>
              </a:rPr>
              <a:t>Ensures fair, balanced, and goal-aligned team structures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62714" cy="1788259"/>
            <a:chOff x="0" y="0"/>
            <a:chExt cx="2747505" cy="3144050"/>
          </a:xfrm>
        </p:grpSpPr>
        <p:sp>
          <p:nvSpPr>
            <p:cNvPr name="Freeform 3" id="3"/>
            <p:cNvSpPr/>
            <p:nvPr/>
          </p:nvSpPr>
          <p:spPr>
            <a:xfrm flipH="false" flipV="false" rot="0">
              <a:off x="0" y="0"/>
              <a:ext cx="2747518" cy="3144012"/>
            </a:xfrm>
            <a:custGeom>
              <a:avLst/>
              <a:gdLst/>
              <a:ahLst/>
              <a:cxnLst/>
              <a:rect r="r" b="b" t="t" l="l"/>
              <a:pathLst>
                <a:path h="3144012" w="2747518">
                  <a:moveTo>
                    <a:pt x="0" y="0"/>
                  </a:moveTo>
                  <a:lnTo>
                    <a:pt x="2747518" y="0"/>
                  </a:lnTo>
                  <a:lnTo>
                    <a:pt x="2747518" y="3144012"/>
                  </a:lnTo>
                  <a:lnTo>
                    <a:pt x="0" y="3144012"/>
                  </a:lnTo>
                  <a:lnTo>
                    <a:pt x="0" y="0"/>
                  </a:lnTo>
                  <a:close/>
                </a:path>
              </a:pathLst>
            </a:custGeom>
            <a:blipFill>
              <a:blip r:embed="rId2"/>
              <a:stretch>
                <a:fillRect l="0" t="0" r="0" b="-1"/>
              </a:stretch>
            </a:blipFill>
          </p:spPr>
        </p:sp>
      </p:grpSp>
      <p:grpSp>
        <p:nvGrpSpPr>
          <p:cNvPr name="Group 4" id="4"/>
          <p:cNvGrpSpPr/>
          <p:nvPr/>
        </p:nvGrpSpPr>
        <p:grpSpPr>
          <a:xfrm rot="0">
            <a:off x="16261395" y="0"/>
            <a:ext cx="2026605" cy="2026605"/>
            <a:chOff x="0" y="0"/>
            <a:chExt cx="4209364" cy="4209364"/>
          </a:xfrm>
        </p:grpSpPr>
        <p:sp>
          <p:nvSpPr>
            <p:cNvPr name="Freeform 5" id="5"/>
            <p:cNvSpPr/>
            <p:nvPr/>
          </p:nvSpPr>
          <p:spPr>
            <a:xfrm flipH="false" flipV="false" rot="0">
              <a:off x="0" y="0"/>
              <a:ext cx="4209415" cy="4209415"/>
            </a:xfrm>
            <a:custGeom>
              <a:avLst/>
              <a:gdLst/>
              <a:ahLst/>
              <a:cxnLst/>
              <a:rect r="r" b="b" t="t" l="l"/>
              <a:pathLst>
                <a:path h="4209415" w="4209415">
                  <a:moveTo>
                    <a:pt x="0" y="0"/>
                  </a:moveTo>
                  <a:lnTo>
                    <a:pt x="4209415" y="0"/>
                  </a:lnTo>
                  <a:lnTo>
                    <a:pt x="4209415" y="4209415"/>
                  </a:lnTo>
                  <a:lnTo>
                    <a:pt x="0" y="4209415"/>
                  </a:lnTo>
                  <a:lnTo>
                    <a:pt x="0" y="0"/>
                  </a:lnTo>
                  <a:close/>
                </a:path>
              </a:pathLst>
            </a:custGeom>
            <a:blipFill>
              <a:blip r:embed="rId3"/>
              <a:stretch>
                <a:fillRect l="0" t="0" r="1" b="1"/>
              </a:stretch>
            </a:blipFill>
          </p:spPr>
        </p:sp>
      </p:grpSp>
      <p:grpSp>
        <p:nvGrpSpPr>
          <p:cNvPr name="Group 6" id="6"/>
          <p:cNvGrpSpPr/>
          <p:nvPr/>
        </p:nvGrpSpPr>
        <p:grpSpPr>
          <a:xfrm rot="0">
            <a:off x="332247" y="9861831"/>
            <a:ext cx="1392906" cy="581773"/>
            <a:chOff x="0" y="0"/>
            <a:chExt cx="4636420" cy="1936486"/>
          </a:xfrm>
        </p:grpSpPr>
        <p:sp>
          <p:nvSpPr>
            <p:cNvPr name="Freeform 7" id="7"/>
            <p:cNvSpPr/>
            <p:nvPr/>
          </p:nvSpPr>
          <p:spPr>
            <a:xfrm flipH="false" flipV="false" rot="0">
              <a:off x="0" y="0"/>
              <a:ext cx="4636433" cy="1936537"/>
            </a:xfrm>
            <a:custGeom>
              <a:avLst/>
              <a:gdLst/>
              <a:ahLst/>
              <a:cxnLst/>
              <a:rect r="r" b="b" t="t" l="l"/>
              <a:pathLst>
                <a:path h="1936537" w="4636433">
                  <a:moveTo>
                    <a:pt x="0" y="0"/>
                  </a:moveTo>
                  <a:lnTo>
                    <a:pt x="4636433" y="0"/>
                  </a:lnTo>
                  <a:lnTo>
                    <a:pt x="4636433" y="1936537"/>
                  </a:lnTo>
                  <a:lnTo>
                    <a:pt x="0" y="1936537"/>
                  </a:lnTo>
                  <a:lnTo>
                    <a:pt x="0" y="0"/>
                  </a:lnTo>
                  <a:close/>
                </a:path>
              </a:pathLst>
            </a:custGeom>
            <a:blipFill>
              <a:blip r:embed="rId4"/>
              <a:stretch>
                <a:fillRect l="0" t="-10502" r="0" b="-23940"/>
              </a:stretch>
            </a:blipFill>
          </p:spPr>
        </p:sp>
      </p:grpSp>
      <p:grpSp>
        <p:nvGrpSpPr>
          <p:cNvPr name="Group 8" id="8"/>
          <p:cNvGrpSpPr/>
          <p:nvPr/>
        </p:nvGrpSpPr>
        <p:grpSpPr>
          <a:xfrm rot="0">
            <a:off x="14558163" y="9258300"/>
            <a:ext cx="3729837" cy="1329616"/>
            <a:chOff x="0" y="0"/>
            <a:chExt cx="6757010" cy="2408746"/>
          </a:xfrm>
        </p:grpSpPr>
        <p:sp>
          <p:nvSpPr>
            <p:cNvPr name="Freeform 9" id="9"/>
            <p:cNvSpPr/>
            <p:nvPr/>
          </p:nvSpPr>
          <p:spPr>
            <a:xfrm flipH="false" flipV="false" rot="0">
              <a:off x="0" y="0"/>
              <a:ext cx="6757035" cy="2408809"/>
            </a:xfrm>
            <a:custGeom>
              <a:avLst/>
              <a:gdLst/>
              <a:ahLst/>
              <a:cxnLst/>
              <a:rect r="r" b="b" t="t" l="l"/>
              <a:pathLst>
                <a:path h="2408809" w="6757035">
                  <a:moveTo>
                    <a:pt x="0" y="0"/>
                  </a:moveTo>
                  <a:lnTo>
                    <a:pt x="6757035" y="0"/>
                  </a:lnTo>
                  <a:lnTo>
                    <a:pt x="6757035" y="2408809"/>
                  </a:lnTo>
                  <a:lnTo>
                    <a:pt x="0" y="2408809"/>
                  </a:lnTo>
                  <a:lnTo>
                    <a:pt x="0" y="0"/>
                  </a:lnTo>
                  <a:close/>
                </a:path>
              </a:pathLst>
            </a:custGeom>
            <a:blipFill>
              <a:blip r:embed="rId5"/>
              <a:stretch>
                <a:fillRect l="0" t="0" r="0" b="2"/>
              </a:stretch>
            </a:blipFill>
          </p:spPr>
        </p:sp>
      </p:grpSp>
      <p:sp>
        <p:nvSpPr>
          <p:cNvPr name="TextBox 10" id="10"/>
          <p:cNvSpPr txBox="true"/>
          <p:nvPr/>
        </p:nvSpPr>
        <p:spPr>
          <a:xfrm rot="0">
            <a:off x="5691535" y="286236"/>
            <a:ext cx="6904930" cy="814595"/>
          </a:xfrm>
          <a:prstGeom prst="rect">
            <a:avLst/>
          </a:prstGeom>
        </p:spPr>
        <p:txBody>
          <a:bodyPr anchor="t" rtlCol="false" tIns="0" lIns="0" bIns="0" rIns="0">
            <a:spAutoFit/>
          </a:bodyPr>
          <a:lstStyle/>
          <a:p>
            <a:pPr algn="l">
              <a:lnSpc>
                <a:spcPts val="6935"/>
              </a:lnSpc>
            </a:pPr>
            <a:r>
              <a:rPr lang="en-US" b="true" sz="3999">
                <a:solidFill>
                  <a:srgbClr val="C00000"/>
                </a:solidFill>
                <a:latin typeface="Canva Sans Bold"/>
                <a:ea typeface="Canva Sans Bold"/>
                <a:cs typeface="Canva Sans Bold"/>
                <a:sym typeface="Canva Sans Bold"/>
              </a:rPr>
              <a:t>RESULTS AND DISCUSSION</a:t>
            </a:r>
          </a:p>
        </p:txBody>
      </p:sp>
      <p:sp>
        <p:nvSpPr>
          <p:cNvPr name="TextBox 11" id="11"/>
          <p:cNvSpPr txBox="true"/>
          <p:nvPr/>
        </p:nvSpPr>
        <p:spPr>
          <a:xfrm rot="0">
            <a:off x="6161680" y="1349014"/>
            <a:ext cx="107947" cy="707041"/>
          </a:xfrm>
          <a:prstGeom prst="rect">
            <a:avLst/>
          </a:prstGeom>
        </p:spPr>
        <p:txBody>
          <a:bodyPr anchor="t" rtlCol="false" tIns="0" lIns="0" bIns="0" rIns="0">
            <a:spAutoFit/>
          </a:bodyPr>
          <a:lstStyle/>
          <a:p>
            <a:pPr algn="l">
              <a:lnSpc>
                <a:spcPts val="5895"/>
              </a:lnSpc>
            </a:pPr>
            <a:r>
              <a:rPr lang="en-US" sz="3399">
                <a:solidFill>
                  <a:srgbClr val="000000"/>
                </a:solidFill>
                <a:latin typeface="Canva Sans"/>
                <a:ea typeface="Canva Sans"/>
                <a:cs typeface="Canva Sans"/>
                <a:sym typeface="Canva Sans"/>
              </a:rPr>
              <a:t> </a:t>
            </a:r>
          </a:p>
        </p:txBody>
      </p:sp>
      <p:sp>
        <p:nvSpPr>
          <p:cNvPr name="TextBox 12" id="12"/>
          <p:cNvSpPr txBox="true"/>
          <p:nvPr/>
        </p:nvSpPr>
        <p:spPr>
          <a:xfrm rot="0">
            <a:off x="3534976" y="1243706"/>
            <a:ext cx="11218048" cy="580396"/>
          </a:xfrm>
          <a:prstGeom prst="rect">
            <a:avLst/>
          </a:prstGeom>
        </p:spPr>
        <p:txBody>
          <a:bodyPr anchor="t" rtlCol="false" tIns="0" lIns="0" bIns="0" rIns="0">
            <a:spAutoFit/>
          </a:bodyPr>
          <a:lstStyle/>
          <a:p>
            <a:pPr algn="l">
              <a:lnSpc>
                <a:spcPts val="4759"/>
              </a:lnSpc>
            </a:pPr>
            <a:r>
              <a:rPr lang="en-US" b="true" sz="3399" i="true">
                <a:solidFill>
                  <a:srgbClr val="000000"/>
                </a:solidFill>
                <a:latin typeface="Canva Sans Bold Italics"/>
                <a:ea typeface="Canva Sans Bold Italics"/>
                <a:cs typeface="Canva Sans Bold Italics"/>
                <a:sym typeface="Canva Sans Bold Italics"/>
              </a:rPr>
              <a:t>Quantitative</a:t>
            </a:r>
            <a:r>
              <a:rPr lang="en-US" b="true" sz="3399" i="true">
                <a:solidFill>
                  <a:srgbClr val="000000"/>
                </a:solidFill>
                <a:latin typeface="Canva Sans Bold Italics"/>
                <a:ea typeface="Canva Sans Bold Italics"/>
                <a:cs typeface="Canva Sans Bold Italics"/>
                <a:sym typeface="Canva Sans Bold Italics"/>
              </a:rPr>
              <a:t> </a:t>
            </a:r>
            <a:r>
              <a:rPr lang="en-US" b="true" sz="3399" i="true">
                <a:solidFill>
                  <a:srgbClr val="000000"/>
                </a:solidFill>
                <a:latin typeface="Canva Sans Bold Italics"/>
                <a:ea typeface="Canva Sans Bold Italics"/>
                <a:cs typeface="Canva Sans Bold Italics"/>
                <a:sym typeface="Canva Sans Bold Italics"/>
              </a:rPr>
              <a:t>Results</a:t>
            </a:r>
            <a:r>
              <a:rPr lang="en-US" b="true" sz="3399" i="true">
                <a:solidFill>
                  <a:srgbClr val="000000"/>
                </a:solidFill>
                <a:latin typeface="Canva Sans Bold Italics"/>
                <a:ea typeface="Canva Sans Bold Italics"/>
                <a:cs typeface="Canva Sans Bold Italics"/>
                <a:sym typeface="Canva Sans Bold Italics"/>
              </a:rPr>
              <a:t> </a:t>
            </a:r>
            <a:r>
              <a:rPr lang="en-US" b="true" sz="3399" i="true">
                <a:solidFill>
                  <a:srgbClr val="000000"/>
                </a:solidFill>
                <a:latin typeface="Canva Sans Bold Italics"/>
                <a:ea typeface="Canva Sans Bold Italics"/>
                <a:cs typeface="Canva Sans Bold Italics"/>
                <a:sym typeface="Canva Sans Bold Italics"/>
              </a:rPr>
              <a:t>–</a:t>
            </a:r>
            <a:r>
              <a:rPr lang="en-US" b="true" sz="3399" i="true">
                <a:solidFill>
                  <a:srgbClr val="000000"/>
                </a:solidFill>
                <a:latin typeface="Canva Sans Bold Italics"/>
                <a:ea typeface="Canva Sans Bold Italics"/>
                <a:cs typeface="Canva Sans Bold Italics"/>
                <a:sym typeface="Canva Sans Bold Italics"/>
              </a:rPr>
              <a:t> </a:t>
            </a:r>
            <a:r>
              <a:rPr lang="en-US" b="true" sz="3399" i="true">
                <a:solidFill>
                  <a:srgbClr val="000000"/>
                </a:solidFill>
                <a:latin typeface="Canva Sans Bold Italics"/>
                <a:ea typeface="Canva Sans Bold Italics"/>
                <a:cs typeface="Canva Sans Bold Italics"/>
                <a:sym typeface="Canva Sans Bold Italics"/>
              </a:rPr>
              <a:t>Performance</a:t>
            </a:r>
            <a:r>
              <a:rPr lang="en-US" b="true" sz="3399" i="true">
                <a:solidFill>
                  <a:srgbClr val="000000"/>
                </a:solidFill>
                <a:latin typeface="Canva Sans Bold Italics"/>
                <a:ea typeface="Canva Sans Bold Italics"/>
                <a:cs typeface="Canva Sans Bold Italics"/>
                <a:sym typeface="Canva Sans Bold Italics"/>
              </a:rPr>
              <a:t> </a:t>
            </a:r>
            <a:r>
              <a:rPr lang="en-US" b="true" sz="3399" i="true">
                <a:solidFill>
                  <a:srgbClr val="000000"/>
                </a:solidFill>
                <a:latin typeface="Canva Sans Bold Italics"/>
                <a:ea typeface="Canva Sans Bold Italics"/>
                <a:cs typeface="Canva Sans Bold Italics"/>
                <a:sym typeface="Canva Sans Bold Italics"/>
              </a:rPr>
              <a:t>&amp;</a:t>
            </a:r>
            <a:r>
              <a:rPr lang="en-US" b="true" sz="3399" i="true">
                <a:solidFill>
                  <a:srgbClr val="000000"/>
                </a:solidFill>
                <a:latin typeface="Canva Sans Bold Italics"/>
                <a:ea typeface="Canva Sans Bold Italics"/>
                <a:cs typeface="Canva Sans Bold Italics"/>
                <a:sym typeface="Canva Sans Bold Italics"/>
              </a:rPr>
              <a:t> </a:t>
            </a:r>
            <a:r>
              <a:rPr lang="en-US" b="true" sz="3399" i="true">
                <a:solidFill>
                  <a:srgbClr val="000000"/>
                </a:solidFill>
                <a:latin typeface="Canva Sans Bold Italics"/>
                <a:ea typeface="Canva Sans Bold Italics"/>
                <a:cs typeface="Canva Sans Bold Italics"/>
                <a:sym typeface="Canva Sans Bold Italics"/>
              </a:rPr>
              <a:t>Engagement</a:t>
            </a:r>
          </a:p>
        </p:txBody>
      </p:sp>
      <p:sp>
        <p:nvSpPr>
          <p:cNvPr name="TextBox 13" id="13"/>
          <p:cNvSpPr txBox="true"/>
          <p:nvPr/>
        </p:nvSpPr>
        <p:spPr>
          <a:xfrm rot="0">
            <a:off x="696453" y="2237030"/>
            <a:ext cx="9321557" cy="7576913"/>
          </a:xfrm>
          <a:prstGeom prst="rect">
            <a:avLst/>
          </a:prstGeom>
        </p:spPr>
        <p:txBody>
          <a:bodyPr anchor="t" rtlCol="false" tIns="0" lIns="0" bIns="0" rIns="0">
            <a:spAutoFit/>
          </a:bodyPr>
          <a:lstStyle/>
          <a:p>
            <a:pPr algn="l">
              <a:lnSpc>
                <a:spcPts val="2899"/>
              </a:lnSpc>
              <a:spcBef>
                <a:spcPct val="0"/>
              </a:spcBef>
            </a:pPr>
            <a:r>
              <a:rPr lang="en-US" sz="2071">
                <a:solidFill>
                  <a:srgbClr val="000000"/>
                </a:solidFill>
                <a:latin typeface="Canva Sans"/>
                <a:ea typeface="Canva Sans"/>
                <a:cs typeface="Canva Sans"/>
                <a:sym typeface="Canva Sans"/>
              </a:rPr>
              <a:t>🔹</a:t>
            </a:r>
            <a:r>
              <a:rPr lang="en-US" b="true" sz="2071">
                <a:solidFill>
                  <a:srgbClr val="000000"/>
                </a:solidFill>
                <a:latin typeface="Canva Sans Bold"/>
                <a:ea typeface="Canva Sans Bold"/>
                <a:cs typeface="Canva Sans Bold"/>
                <a:sym typeface="Canva Sans Bold"/>
              </a:rPr>
              <a:t> Experimental Setup</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Pilot study conducted with 80 engineering students using real hackathon/project-based team formation via Team Builders</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 Evaluation focused on matchmaking accuracy, team balance, engagement, and collaboration quality</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 Compared AI-generated teams with expert-curated and manually formed teams</a:t>
            </a:r>
          </a:p>
          <a:p>
            <a:pPr algn="l">
              <a:lnSpc>
                <a:spcPts val="2899"/>
              </a:lnSpc>
              <a:spcBef>
                <a:spcPct val="0"/>
              </a:spcBef>
            </a:pPr>
          </a:p>
          <a:p>
            <a:pPr algn="l">
              <a:lnSpc>
                <a:spcPts val="2899"/>
              </a:lnSpc>
              <a:spcBef>
                <a:spcPct val="0"/>
              </a:spcBef>
            </a:pPr>
            <a:r>
              <a:rPr lang="en-US" sz="2071">
                <a:solidFill>
                  <a:srgbClr val="000000"/>
                </a:solidFill>
                <a:latin typeface="Canva Sans"/>
                <a:ea typeface="Canva Sans"/>
                <a:cs typeface="Canva Sans"/>
                <a:sym typeface="Canva Sans"/>
              </a:rPr>
              <a:t>🔹 </a:t>
            </a:r>
            <a:r>
              <a:rPr lang="en-US" b="true" sz="2071">
                <a:solidFill>
                  <a:srgbClr val="000000"/>
                </a:solidFill>
                <a:latin typeface="Canva Sans Bold"/>
                <a:ea typeface="Canva Sans Bold"/>
                <a:cs typeface="Canva Sans Bold"/>
                <a:sym typeface="Canva Sans Bold"/>
              </a:rPr>
              <a:t>Matchmaking Performance</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GNN-based AI matchmaking achieved 87% accuracy compared to expert team selection</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 Outperformed manual team formation by ~20%</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 Top recommendations showed strong compatibility across skills, experience, and interests</a:t>
            </a:r>
          </a:p>
          <a:p>
            <a:pPr algn="l">
              <a:lnSpc>
                <a:spcPts val="2899"/>
              </a:lnSpc>
              <a:spcBef>
                <a:spcPct val="0"/>
              </a:spcBef>
            </a:pPr>
          </a:p>
          <a:p>
            <a:pPr algn="l">
              <a:lnSpc>
                <a:spcPts val="2899"/>
              </a:lnSpc>
              <a:spcBef>
                <a:spcPct val="0"/>
              </a:spcBef>
            </a:pPr>
            <a:r>
              <a:rPr lang="en-US" sz="2071">
                <a:solidFill>
                  <a:srgbClr val="000000"/>
                </a:solidFill>
                <a:latin typeface="Canva Sans"/>
                <a:ea typeface="Canva Sans"/>
                <a:cs typeface="Canva Sans"/>
                <a:sym typeface="Canva Sans"/>
              </a:rPr>
              <a:t>🔹 </a:t>
            </a:r>
            <a:r>
              <a:rPr lang="en-US" b="true" sz="2071">
                <a:solidFill>
                  <a:srgbClr val="000000"/>
                </a:solidFill>
                <a:latin typeface="Canva Sans Bold"/>
                <a:ea typeface="Canva Sans Bold"/>
                <a:cs typeface="Canva Sans Bold"/>
                <a:sym typeface="Canva Sans Bold"/>
              </a:rPr>
              <a:t>Team Balance &amp; Compatibility Insights</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Teams evaluated for skill diversity, experience levels, and role distribution</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 System avoided homogeneity and over-specialization in teams</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 Mentor/faculty rating: 4.4 / 5 for overall team composition quality</a:t>
            </a:r>
          </a:p>
          <a:p>
            <a:pPr algn="l" marL="447206" indent="-223603" lvl="1">
              <a:lnSpc>
                <a:spcPts val="2899"/>
              </a:lnSpc>
              <a:buFont typeface="Arial"/>
              <a:buChar char="•"/>
            </a:pPr>
            <a:r>
              <a:rPr lang="en-US" sz="2071">
                <a:solidFill>
                  <a:srgbClr val="000000"/>
                </a:solidFill>
                <a:latin typeface="Canva Sans"/>
                <a:ea typeface="Canva Sans"/>
                <a:cs typeface="Canva Sans"/>
                <a:sym typeface="Canva Sans"/>
              </a:rPr>
              <a:t> AI identified hidden compatibility factors missed in manual selection</a:t>
            </a:r>
          </a:p>
        </p:txBody>
      </p:sp>
      <p:sp>
        <p:nvSpPr>
          <p:cNvPr name="TextBox 14" id="14"/>
          <p:cNvSpPr txBox="true"/>
          <p:nvPr/>
        </p:nvSpPr>
        <p:spPr>
          <a:xfrm rot="0">
            <a:off x="9716483" y="1998030"/>
            <a:ext cx="8571517" cy="7577166"/>
          </a:xfrm>
          <a:prstGeom prst="rect">
            <a:avLst/>
          </a:prstGeom>
        </p:spPr>
        <p:txBody>
          <a:bodyPr anchor="t" rtlCol="false" tIns="0" lIns="0" bIns="0" rIns="0">
            <a:spAutoFit/>
          </a:bodyPr>
          <a:lstStyle/>
          <a:p>
            <a:pPr algn="l">
              <a:lnSpc>
                <a:spcPts val="2885"/>
              </a:lnSpc>
            </a:pPr>
            <a:r>
              <a:rPr lang="en-US" sz="2061">
                <a:solidFill>
                  <a:srgbClr val="000000"/>
                </a:solidFill>
                <a:latin typeface="Canva Sans"/>
                <a:ea typeface="Canva Sans"/>
                <a:cs typeface="Canva Sans"/>
                <a:sym typeface="Canva Sans"/>
              </a:rPr>
              <a:t>🔹</a:t>
            </a:r>
            <a:r>
              <a:rPr lang="en-US" b="true" sz="2061">
                <a:solidFill>
                  <a:srgbClr val="000000"/>
                </a:solidFill>
                <a:latin typeface="Canva Sans Bold"/>
                <a:ea typeface="Canva Sans Bold"/>
                <a:cs typeface="Canva Sans Bold"/>
                <a:sym typeface="Canva Sans Bold"/>
              </a:rPr>
              <a:t> Engagement &amp; Participation Analysis</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Daily active usage reached 65% (profile views, requests, interactions)</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 Team formation completion improved from 56% (manual) to 84% (Team Builders)</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 Reduced team formation time and improved collaboration experience</a:t>
            </a:r>
          </a:p>
          <a:p>
            <a:pPr algn="l">
              <a:lnSpc>
                <a:spcPts val="2885"/>
              </a:lnSpc>
            </a:pPr>
          </a:p>
          <a:p>
            <a:pPr algn="l">
              <a:lnSpc>
                <a:spcPts val="2885"/>
              </a:lnSpc>
            </a:pPr>
            <a:r>
              <a:rPr lang="en-US" sz="2061">
                <a:solidFill>
                  <a:srgbClr val="000000"/>
                </a:solidFill>
                <a:latin typeface="Canva Sans"/>
                <a:ea typeface="Canva Sans"/>
                <a:cs typeface="Canva Sans"/>
                <a:sym typeface="Canva Sans"/>
              </a:rPr>
              <a:t>🔹 </a:t>
            </a:r>
            <a:r>
              <a:rPr lang="en-US" b="true" sz="2061">
                <a:solidFill>
                  <a:srgbClr val="000000"/>
                </a:solidFill>
                <a:latin typeface="Canva Sans Bold"/>
                <a:ea typeface="Canva Sans Bold"/>
                <a:cs typeface="Canva Sans Bold"/>
                <a:sym typeface="Canva Sans Bold"/>
              </a:rPr>
              <a:t>Qualitative Feedback</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Users reported easier and more meaningful collaboration</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 Teams showed improved technical and behavioral compatibility</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 Participants experienced better coordination and reduced conflicts</a:t>
            </a:r>
          </a:p>
          <a:p>
            <a:pPr algn="l">
              <a:lnSpc>
                <a:spcPts val="2885"/>
              </a:lnSpc>
            </a:pPr>
          </a:p>
          <a:p>
            <a:pPr algn="l">
              <a:lnSpc>
                <a:spcPts val="2885"/>
              </a:lnSpc>
            </a:pPr>
            <a:r>
              <a:rPr lang="en-US" sz="2061">
                <a:solidFill>
                  <a:srgbClr val="000000"/>
                </a:solidFill>
                <a:latin typeface="Canva Sans"/>
                <a:ea typeface="Canva Sans"/>
                <a:cs typeface="Canva Sans"/>
                <a:sym typeface="Canva Sans"/>
              </a:rPr>
              <a:t>🔹 </a:t>
            </a:r>
            <a:r>
              <a:rPr lang="en-US" b="true" sz="2061">
                <a:solidFill>
                  <a:srgbClr val="000000"/>
                </a:solidFill>
                <a:latin typeface="Canva Sans Bold"/>
                <a:ea typeface="Canva Sans Bold"/>
                <a:cs typeface="Canva Sans Bold"/>
                <a:sym typeface="Canva Sans Bold"/>
              </a:rPr>
              <a:t>Overall Impact</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AI-driven matchmaking produced balanced, high-quality teams</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 Data-driven recommendations improved participation and efficiency</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 Results validate effectiveness of the TF-IDF + GNN hybrid approach</a:t>
            </a:r>
          </a:p>
          <a:p>
            <a:pPr algn="l" marL="445056" indent="-222528" lvl="1">
              <a:lnSpc>
                <a:spcPts val="2885"/>
              </a:lnSpc>
              <a:buFont typeface="Arial"/>
              <a:buChar char="•"/>
            </a:pPr>
            <a:r>
              <a:rPr lang="en-US" sz="2061">
                <a:solidFill>
                  <a:srgbClr val="000000"/>
                </a:solidFill>
                <a:latin typeface="Canva Sans"/>
                <a:ea typeface="Canva Sans"/>
                <a:cs typeface="Canva Sans"/>
                <a:sym typeface="Canva Sans"/>
              </a:rPr>
              <a:t> Platform demonstrated scalability and practical applicability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2879" y="261709"/>
            <a:ext cx="1773134" cy="2029049"/>
            <a:chOff x="0" y="0"/>
            <a:chExt cx="2747505" cy="3144050"/>
          </a:xfrm>
        </p:grpSpPr>
        <p:sp>
          <p:nvSpPr>
            <p:cNvPr name="Freeform 3" id="3"/>
            <p:cNvSpPr/>
            <p:nvPr/>
          </p:nvSpPr>
          <p:spPr>
            <a:xfrm flipH="false" flipV="false" rot="0">
              <a:off x="0" y="0"/>
              <a:ext cx="2747518" cy="3144012"/>
            </a:xfrm>
            <a:custGeom>
              <a:avLst/>
              <a:gdLst/>
              <a:ahLst/>
              <a:cxnLst/>
              <a:rect r="r" b="b" t="t" l="l"/>
              <a:pathLst>
                <a:path h="3144012" w="2747518">
                  <a:moveTo>
                    <a:pt x="0" y="0"/>
                  </a:moveTo>
                  <a:lnTo>
                    <a:pt x="2747518" y="0"/>
                  </a:lnTo>
                  <a:lnTo>
                    <a:pt x="2747518" y="3144012"/>
                  </a:lnTo>
                  <a:lnTo>
                    <a:pt x="0" y="3144012"/>
                  </a:lnTo>
                  <a:lnTo>
                    <a:pt x="0" y="0"/>
                  </a:lnTo>
                  <a:close/>
                </a:path>
              </a:pathLst>
            </a:custGeom>
            <a:blipFill>
              <a:blip r:embed="rId2"/>
              <a:stretch>
                <a:fillRect l="0" t="0" r="0" b="-1"/>
              </a:stretch>
            </a:blipFill>
          </p:spPr>
        </p:sp>
      </p:grpSp>
      <p:grpSp>
        <p:nvGrpSpPr>
          <p:cNvPr name="Group 4" id="4"/>
          <p:cNvGrpSpPr/>
          <p:nvPr/>
        </p:nvGrpSpPr>
        <p:grpSpPr>
          <a:xfrm rot="0">
            <a:off x="15754121" y="0"/>
            <a:ext cx="2533879" cy="2533879"/>
            <a:chOff x="0" y="0"/>
            <a:chExt cx="4209364" cy="4209364"/>
          </a:xfrm>
        </p:grpSpPr>
        <p:sp>
          <p:nvSpPr>
            <p:cNvPr name="Freeform 5" id="5"/>
            <p:cNvSpPr/>
            <p:nvPr/>
          </p:nvSpPr>
          <p:spPr>
            <a:xfrm flipH="false" flipV="false" rot="0">
              <a:off x="0" y="0"/>
              <a:ext cx="4209415" cy="4209415"/>
            </a:xfrm>
            <a:custGeom>
              <a:avLst/>
              <a:gdLst/>
              <a:ahLst/>
              <a:cxnLst/>
              <a:rect r="r" b="b" t="t" l="l"/>
              <a:pathLst>
                <a:path h="4209415" w="4209415">
                  <a:moveTo>
                    <a:pt x="0" y="0"/>
                  </a:moveTo>
                  <a:lnTo>
                    <a:pt x="4209415" y="0"/>
                  </a:lnTo>
                  <a:lnTo>
                    <a:pt x="4209415" y="4209415"/>
                  </a:lnTo>
                  <a:lnTo>
                    <a:pt x="0" y="4209415"/>
                  </a:lnTo>
                  <a:lnTo>
                    <a:pt x="0" y="0"/>
                  </a:lnTo>
                  <a:close/>
                </a:path>
              </a:pathLst>
            </a:custGeom>
            <a:blipFill>
              <a:blip r:embed="rId3"/>
              <a:stretch>
                <a:fillRect l="0" t="0" r="1" b="1"/>
              </a:stretch>
            </a:blipFill>
          </p:spPr>
        </p:sp>
      </p:grpSp>
      <p:grpSp>
        <p:nvGrpSpPr>
          <p:cNvPr name="Group 6" id="6"/>
          <p:cNvGrpSpPr/>
          <p:nvPr/>
        </p:nvGrpSpPr>
        <p:grpSpPr>
          <a:xfrm rot="0">
            <a:off x="566267" y="8926341"/>
            <a:ext cx="2919492" cy="1219380"/>
            <a:chOff x="0" y="0"/>
            <a:chExt cx="4636420" cy="1936486"/>
          </a:xfrm>
        </p:grpSpPr>
        <p:sp>
          <p:nvSpPr>
            <p:cNvPr name="Freeform 7" id="7"/>
            <p:cNvSpPr/>
            <p:nvPr/>
          </p:nvSpPr>
          <p:spPr>
            <a:xfrm flipH="false" flipV="false" rot="0">
              <a:off x="0" y="0"/>
              <a:ext cx="4636433" cy="1936537"/>
            </a:xfrm>
            <a:custGeom>
              <a:avLst/>
              <a:gdLst/>
              <a:ahLst/>
              <a:cxnLst/>
              <a:rect r="r" b="b" t="t" l="l"/>
              <a:pathLst>
                <a:path h="1936537" w="4636433">
                  <a:moveTo>
                    <a:pt x="0" y="0"/>
                  </a:moveTo>
                  <a:lnTo>
                    <a:pt x="4636433" y="0"/>
                  </a:lnTo>
                  <a:lnTo>
                    <a:pt x="4636433" y="1936537"/>
                  </a:lnTo>
                  <a:lnTo>
                    <a:pt x="0" y="1936537"/>
                  </a:lnTo>
                  <a:lnTo>
                    <a:pt x="0" y="0"/>
                  </a:lnTo>
                  <a:close/>
                </a:path>
              </a:pathLst>
            </a:custGeom>
            <a:blipFill>
              <a:blip r:embed="rId4"/>
              <a:stretch>
                <a:fillRect l="0" t="-10502" r="0" b="-23940"/>
              </a:stretch>
            </a:blipFill>
          </p:spPr>
        </p:sp>
      </p:grpSp>
      <p:grpSp>
        <p:nvGrpSpPr>
          <p:cNvPr name="Group 8" id="8"/>
          <p:cNvGrpSpPr/>
          <p:nvPr/>
        </p:nvGrpSpPr>
        <p:grpSpPr>
          <a:xfrm rot="0">
            <a:off x="13220243" y="8632751"/>
            <a:ext cx="5067757" cy="1806559"/>
            <a:chOff x="0" y="0"/>
            <a:chExt cx="6757010" cy="2408746"/>
          </a:xfrm>
        </p:grpSpPr>
        <p:sp>
          <p:nvSpPr>
            <p:cNvPr name="Freeform 9" id="9"/>
            <p:cNvSpPr/>
            <p:nvPr/>
          </p:nvSpPr>
          <p:spPr>
            <a:xfrm flipH="false" flipV="false" rot="0">
              <a:off x="0" y="0"/>
              <a:ext cx="6757035" cy="2408809"/>
            </a:xfrm>
            <a:custGeom>
              <a:avLst/>
              <a:gdLst/>
              <a:ahLst/>
              <a:cxnLst/>
              <a:rect r="r" b="b" t="t" l="l"/>
              <a:pathLst>
                <a:path h="2408809" w="6757035">
                  <a:moveTo>
                    <a:pt x="0" y="0"/>
                  </a:moveTo>
                  <a:lnTo>
                    <a:pt x="6757035" y="0"/>
                  </a:lnTo>
                  <a:lnTo>
                    <a:pt x="6757035" y="2408809"/>
                  </a:lnTo>
                  <a:lnTo>
                    <a:pt x="0" y="2408809"/>
                  </a:lnTo>
                  <a:lnTo>
                    <a:pt x="0" y="0"/>
                  </a:lnTo>
                  <a:close/>
                </a:path>
              </a:pathLst>
            </a:custGeom>
            <a:blipFill>
              <a:blip r:embed="rId5"/>
              <a:stretch>
                <a:fillRect l="0" t="0" r="0" b="2"/>
              </a:stretch>
            </a:blipFill>
          </p:spPr>
        </p:sp>
      </p:grpSp>
      <p:sp>
        <p:nvSpPr>
          <p:cNvPr name="TextBox 10" id="10"/>
          <p:cNvSpPr txBox="true"/>
          <p:nvPr/>
        </p:nvSpPr>
        <p:spPr>
          <a:xfrm rot="0">
            <a:off x="4669484" y="1190739"/>
            <a:ext cx="8949033" cy="679456"/>
          </a:xfrm>
          <a:prstGeom prst="rect">
            <a:avLst/>
          </a:prstGeom>
        </p:spPr>
        <p:txBody>
          <a:bodyPr anchor="t" rtlCol="false" tIns="0" lIns="0" bIns="0" rIns="0">
            <a:spAutoFit/>
          </a:bodyPr>
          <a:lstStyle/>
          <a:p>
            <a:pPr algn="l">
              <a:lnSpc>
                <a:spcPts val="5599"/>
              </a:lnSpc>
            </a:pPr>
            <a:r>
              <a:rPr lang="en-US" b="true" sz="3999">
                <a:solidFill>
                  <a:srgbClr val="C00000"/>
                </a:solidFill>
                <a:latin typeface="Canva Sans Bold"/>
                <a:ea typeface="Canva Sans Bold"/>
                <a:cs typeface="Canva Sans Bold"/>
                <a:sym typeface="Canva Sans Bold"/>
              </a:rPr>
              <a:t>CONCLUSION AND FUTURE SCOPE </a:t>
            </a:r>
          </a:p>
        </p:txBody>
      </p:sp>
      <p:sp>
        <p:nvSpPr>
          <p:cNvPr name="TextBox 11" id="11"/>
          <p:cNvSpPr txBox="true"/>
          <p:nvPr/>
        </p:nvSpPr>
        <p:spPr>
          <a:xfrm rot="0">
            <a:off x="1514284" y="2500387"/>
            <a:ext cx="15259431" cy="6118230"/>
          </a:xfrm>
          <a:prstGeom prst="rect">
            <a:avLst/>
          </a:prstGeom>
        </p:spPr>
        <p:txBody>
          <a:bodyPr anchor="t" rtlCol="false" tIns="0" lIns="0" bIns="0" rIns="0">
            <a:spAutoFit/>
          </a:bodyPr>
          <a:lstStyle/>
          <a:p>
            <a:pPr algn="l">
              <a:lnSpc>
                <a:spcPts val="3499"/>
              </a:lnSpc>
              <a:spcBef>
                <a:spcPct val="0"/>
              </a:spcBef>
            </a:pPr>
          </a:p>
          <a:p>
            <a:pPr algn="l">
              <a:lnSpc>
                <a:spcPts val="3499"/>
              </a:lnSpc>
              <a:spcBef>
                <a:spcPct val="0"/>
              </a:spcBef>
            </a:pPr>
            <a:r>
              <a:rPr lang="en-US" sz="2499">
                <a:solidFill>
                  <a:srgbClr val="000000"/>
                </a:solidFill>
                <a:latin typeface="Canva Sans"/>
                <a:ea typeface="Canva Sans"/>
                <a:cs typeface="Canva Sans"/>
                <a:sym typeface="Canva Sans"/>
              </a:rPr>
              <a:t>🔹 </a:t>
            </a:r>
            <a:r>
              <a:rPr lang="en-US" b="true" sz="2499">
                <a:solidFill>
                  <a:srgbClr val="000000"/>
                </a:solidFill>
                <a:latin typeface="Canva Sans Bold"/>
                <a:ea typeface="Canva Sans Bold"/>
                <a:cs typeface="Canva Sans Bold"/>
                <a:sym typeface="Canva Sans Bold"/>
              </a:rPr>
              <a:t>Conclusion</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Team Builders provides AI-powered compatibility prediction using GNN + TF-IDF/Cosine similarity</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 Achieved 87% matchmaking accuracy, 84% team formation rate, and 4.4/5 mentor-rated quality</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 Reduced conflicts and improved collaboration with 65% daily active user engagement</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 Demonstrates effectiveness of intelligent matchmaking over manual team formation</a:t>
            </a:r>
          </a:p>
          <a:p>
            <a:pPr algn="l">
              <a:lnSpc>
                <a:spcPts val="3499"/>
              </a:lnSpc>
              <a:spcBef>
                <a:spcPct val="0"/>
              </a:spcBef>
            </a:pPr>
          </a:p>
          <a:p>
            <a:pPr algn="l">
              <a:lnSpc>
                <a:spcPts val="3499"/>
              </a:lnSpc>
              <a:spcBef>
                <a:spcPct val="0"/>
              </a:spcBef>
            </a:pPr>
            <a:r>
              <a:rPr lang="en-US" sz="2499">
                <a:solidFill>
                  <a:srgbClr val="000000"/>
                </a:solidFill>
                <a:latin typeface="Canva Sans"/>
                <a:ea typeface="Canva Sans"/>
                <a:cs typeface="Canva Sans"/>
                <a:sym typeface="Canva Sans"/>
              </a:rPr>
              <a:t>🔹 </a:t>
            </a:r>
            <a:r>
              <a:rPr lang="en-US" b="true" sz="2499">
                <a:solidFill>
                  <a:srgbClr val="000000"/>
                </a:solidFill>
                <a:latin typeface="Canva Sans Bold"/>
                <a:ea typeface="Canva Sans Bold"/>
                <a:cs typeface="Canva Sans Bold"/>
                <a:sym typeface="Canva Sans Bold"/>
              </a:rPr>
              <a:t>Future Scope</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Integration of advanced deep learning and NLP for richer profile and resume analysis</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 Continuous learning from real feedback and performance data for dynamic scoring</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 Integration with university portals and professional platforms (LinkedIn/GitHub)</a:t>
            </a:r>
          </a:p>
          <a:p>
            <a:pPr algn="l" marL="539704" indent="-269852" lvl="1">
              <a:lnSpc>
                <a:spcPts val="3499"/>
              </a:lnSpc>
              <a:buFont typeface="Arial"/>
              <a:buChar char="•"/>
            </a:pPr>
            <a:r>
              <a:rPr lang="en-US" sz="2499">
                <a:solidFill>
                  <a:srgbClr val="000000"/>
                </a:solidFill>
                <a:latin typeface="Canva Sans"/>
                <a:ea typeface="Canva Sans"/>
                <a:cs typeface="Canva Sans"/>
                <a:sym typeface="Canva Sans"/>
              </a:rPr>
              <a:t> Development of behavioral and emotional compatibility models for optimal teams</a:t>
            </a:r>
          </a:p>
          <a:p>
            <a:pPr algn="l">
              <a:lnSpc>
                <a:spcPts val="34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488" y="192296"/>
            <a:ext cx="1708361" cy="1954927"/>
            <a:chOff x="0" y="0"/>
            <a:chExt cx="2747505" cy="3144050"/>
          </a:xfrm>
        </p:grpSpPr>
        <p:sp>
          <p:nvSpPr>
            <p:cNvPr name="Freeform 3" id="3"/>
            <p:cNvSpPr/>
            <p:nvPr/>
          </p:nvSpPr>
          <p:spPr>
            <a:xfrm flipH="false" flipV="false" rot="0">
              <a:off x="0" y="0"/>
              <a:ext cx="2747518" cy="3144012"/>
            </a:xfrm>
            <a:custGeom>
              <a:avLst/>
              <a:gdLst/>
              <a:ahLst/>
              <a:cxnLst/>
              <a:rect r="r" b="b" t="t" l="l"/>
              <a:pathLst>
                <a:path h="3144012" w="2747518">
                  <a:moveTo>
                    <a:pt x="0" y="0"/>
                  </a:moveTo>
                  <a:lnTo>
                    <a:pt x="2747518" y="0"/>
                  </a:lnTo>
                  <a:lnTo>
                    <a:pt x="2747518" y="3144012"/>
                  </a:lnTo>
                  <a:lnTo>
                    <a:pt x="0" y="3144012"/>
                  </a:lnTo>
                  <a:lnTo>
                    <a:pt x="0" y="0"/>
                  </a:lnTo>
                  <a:close/>
                </a:path>
              </a:pathLst>
            </a:custGeom>
            <a:blipFill>
              <a:blip r:embed="rId2"/>
              <a:stretch>
                <a:fillRect l="0" t="0" r="0" b="-1"/>
              </a:stretch>
            </a:blipFill>
          </p:spPr>
        </p:sp>
      </p:grpSp>
      <p:grpSp>
        <p:nvGrpSpPr>
          <p:cNvPr name="Group 4" id="4"/>
          <p:cNvGrpSpPr/>
          <p:nvPr/>
        </p:nvGrpSpPr>
        <p:grpSpPr>
          <a:xfrm rot="0">
            <a:off x="15923921" y="0"/>
            <a:ext cx="2364079" cy="2364079"/>
            <a:chOff x="0" y="0"/>
            <a:chExt cx="4209364" cy="4209364"/>
          </a:xfrm>
        </p:grpSpPr>
        <p:sp>
          <p:nvSpPr>
            <p:cNvPr name="Freeform 5" id="5"/>
            <p:cNvSpPr/>
            <p:nvPr/>
          </p:nvSpPr>
          <p:spPr>
            <a:xfrm flipH="false" flipV="false" rot="0">
              <a:off x="0" y="0"/>
              <a:ext cx="4209415" cy="4209415"/>
            </a:xfrm>
            <a:custGeom>
              <a:avLst/>
              <a:gdLst/>
              <a:ahLst/>
              <a:cxnLst/>
              <a:rect r="r" b="b" t="t" l="l"/>
              <a:pathLst>
                <a:path h="4209415" w="4209415">
                  <a:moveTo>
                    <a:pt x="0" y="0"/>
                  </a:moveTo>
                  <a:lnTo>
                    <a:pt x="4209415" y="0"/>
                  </a:lnTo>
                  <a:lnTo>
                    <a:pt x="4209415" y="4209415"/>
                  </a:lnTo>
                  <a:lnTo>
                    <a:pt x="0" y="4209415"/>
                  </a:lnTo>
                  <a:lnTo>
                    <a:pt x="0" y="0"/>
                  </a:lnTo>
                  <a:close/>
                </a:path>
              </a:pathLst>
            </a:custGeom>
            <a:blipFill>
              <a:blip r:embed="rId3"/>
              <a:stretch>
                <a:fillRect l="0" t="0" r="1" b="1"/>
              </a:stretch>
            </a:blipFill>
          </p:spPr>
        </p:sp>
      </p:grpSp>
      <p:grpSp>
        <p:nvGrpSpPr>
          <p:cNvPr name="Group 6" id="6"/>
          <p:cNvGrpSpPr/>
          <p:nvPr/>
        </p:nvGrpSpPr>
        <p:grpSpPr>
          <a:xfrm rot="0">
            <a:off x="170488" y="9383720"/>
            <a:ext cx="2162671" cy="903280"/>
            <a:chOff x="0" y="0"/>
            <a:chExt cx="4636420" cy="1936486"/>
          </a:xfrm>
        </p:grpSpPr>
        <p:sp>
          <p:nvSpPr>
            <p:cNvPr name="Freeform 7" id="7"/>
            <p:cNvSpPr/>
            <p:nvPr/>
          </p:nvSpPr>
          <p:spPr>
            <a:xfrm flipH="false" flipV="false" rot="0">
              <a:off x="0" y="0"/>
              <a:ext cx="4636433" cy="1936537"/>
            </a:xfrm>
            <a:custGeom>
              <a:avLst/>
              <a:gdLst/>
              <a:ahLst/>
              <a:cxnLst/>
              <a:rect r="r" b="b" t="t" l="l"/>
              <a:pathLst>
                <a:path h="1936537" w="4636433">
                  <a:moveTo>
                    <a:pt x="0" y="0"/>
                  </a:moveTo>
                  <a:lnTo>
                    <a:pt x="4636433" y="0"/>
                  </a:lnTo>
                  <a:lnTo>
                    <a:pt x="4636433" y="1936537"/>
                  </a:lnTo>
                  <a:lnTo>
                    <a:pt x="0" y="1936537"/>
                  </a:lnTo>
                  <a:lnTo>
                    <a:pt x="0" y="0"/>
                  </a:lnTo>
                  <a:close/>
                </a:path>
              </a:pathLst>
            </a:custGeom>
            <a:blipFill>
              <a:blip r:embed="rId4"/>
              <a:stretch>
                <a:fillRect l="0" t="-10502" r="0" b="-23940"/>
              </a:stretch>
            </a:blipFill>
          </p:spPr>
        </p:sp>
      </p:grpSp>
      <p:grpSp>
        <p:nvGrpSpPr>
          <p:cNvPr name="Group 8" id="8"/>
          <p:cNvGrpSpPr/>
          <p:nvPr/>
        </p:nvGrpSpPr>
        <p:grpSpPr>
          <a:xfrm rot="0">
            <a:off x="13220243" y="8480441"/>
            <a:ext cx="5067757" cy="1806559"/>
            <a:chOff x="0" y="0"/>
            <a:chExt cx="6757010" cy="2408746"/>
          </a:xfrm>
        </p:grpSpPr>
        <p:sp>
          <p:nvSpPr>
            <p:cNvPr name="Freeform 9" id="9"/>
            <p:cNvSpPr/>
            <p:nvPr/>
          </p:nvSpPr>
          <p:spPr>
            <a:xfrm flipH="false" flipV="false" rot="0">
              <a:off x="0" y="0"/>
              <a:ext cx="6757035" cy="2408809"/>
            </a:xfrm>
            <a:custGeom>
              <a:avLst/>
              <a:gdLst/>
              <a:ahLst/>
              <a:cxnLst/>
              <a:rect r="r" b="b" t="t" l="l"/>
              <a:pathLst>
                <a:path h="2408809" w="6757035">
                  <a:moveTo>
                    <a:pt x="0" y="0"/>
                  </a:moveTo>
                  <a:lnTo>
                    <a:pt x="6757035" y="0"/>
                  </a:lnTo>
                  <a:lnTo>
                    <a:pt x="6757035" y="2408809"/>
                  </a:lnTo>
                  <a:lnTo>
                    <a:pt x="0" y="2408809"/>
                  </a:lnTo>
                  <a:lnTo>
                    <a:pt x="0" y="0"/>
                  </a:lnTo>
                  <a:close/>
                </a:path>
              </a:pathLst>
            </a:custGeom>
            <a:blipFill>
              <a:blip r:embed="rId5"/>
              <a:stretch>
                <a:fillRect l="0" t="0" r="0" b="2"/>
              </a:stretch>
            </a:blipFill>
          </p:spPr>
        </p:sp>
      </p:grpSp>
      <p:grpSp>
        <p:nvGrpSpPr>
          <p:cNvPr name="Group 10" id="10"/>
          <p:cNvGrpSpPr/>
          <p:nvPr/>
        </p:nvGrpSpPr>
        <p:grpSpPr>
          <a:xfrm rot="0">
            <a:off x="1028700" y="1457496"/>
            <a:ext cx="17386840" cy="7774959"/>
            <a:chOff x="0" y="0"/>
            <a:chExt cx="23182453" cy="10366612"/>
          </a:xfrm>
        </p:grpSpPr>
        <p:grpSp>
          <p:nvGrpSpPr>
            <p:cNvPr name="Group 11" id="11"/>
            <p:cNvGrpSpPr/>
            <p:nvPr/>
          </p:nvGrpSpPr>
          <p:grpSpPr>
            <a:xfrm rot="0">
              <a:off x="0" y="1210776"/>
              <a:ext cx="127000" cy="127000"/>
              <a:chOff x="0" y="0"/>
              <a:chExt cx="95250" cy="95250"/>
            </a:xfrm>
          </p:grpSpPr>
          <p:sp>
            <p:nvSpPr>
              <p:cNvPr name="Freeform 12" id="12"/>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13" id="13"/>
            <p:cNvGrpSpPr/>
            <p:nvPr/>
          </p:nvGrpSpPr>
          <p:grpSpPr>
            <a:xfrm rot="0">
              <a:off x="0" y="2201376"/>
              <a:ext cx="127000" cy="127000"/>
              <a:chOff x="0" y="0"/>
              <a:chExt cx="95250" cy="95250"/>
            </a:xfrm>
          </p:grpSpPr>
          <p:sp>
            <p:nvSpPr>
              <p:cNvPr name="Freeform 14" id="14"/>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15" id="15"/>
            <p:cNvGrpSpPr/>
            <p:nvPr/>
          </p:nvGrpSpPr>
          <p:grpSpPr>
            <a:xfrm rot="0">
              <a:off x="0" y="3191976"/>
              <a:ext cx="127000" cy="127000"/>
              <a:chOff x="0" y="0"/>
              <a:chExt cx="95250" cy="95250"/>
            </a:xfrm>
          </p:grpSpPr>
          <p:sp>
            <p:nvSpPr>
              <p:cNvPr name="Freeform 16" id="16"/>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17" id="17"/>
            <p:cNvGrpSpPr/>
            <p:nvPr/>
          </p:nvGrpSpPr>
          <p:grpSpPr>
            <a:xfrm rot="0">
              <a:off x="0" y="3687276"/>
              <a:ext cx="127000" cy="127000"/>
              <a:chOff x="0" y="0"/>
              <a:chExt cx="95250" cy="95250"/>
            </a:xfrm>
          </p:grpSpPr>
          <p:sp>
            <p:nvSpPr>
              <p:cNvPr name="Freeform 18" id="18"/>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19" id="19"/>
            <p:cNvGrpSpPr/>
            <p:nvPr/>
          </p:nvGrpSpPr>
          <p:grpSpPr>
            <a:xfrm rot="0">
              <a:off x="0" y="4182576"/>
              <a:ext cx="127000" cy="127000"/>
              <a:chOff x="0" y="0"/>
              <a:chExt cx="95250" cy="95250"/>
            </a:xfrm>
          </p:grpSpPr>
          <p:sp>
            <p:nvSpPr>
              <p:cNvPr name="Freeform 20" id="20"/>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21" id="21"/>
            <p:cNvGrpSpPr/>
            <p:nvPr/>
          </p:nvGrpSpPr>
          <p:grpSpPr>
            <a:xfrm rot="0">
              <a:off x="0" y="4677876"/>
              <a:ext cx="127000" cy="127000"/>
              <a:chOff x="0" y="0"/>
              <a:chExt cx="95250" cy="95250"/>
            </a:xfrm>
          </p:grpSpPr>
          <p:sp>
            <p:nvSpPr>
              <p:cNvPr name="Freeform 22" id="22"/>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23" id="23"/>
            <p:cNvGrpSpPr/>
            <p:nvPr/>
          </p:nvGrpSpPr>
          <p:grpSpPr>
            <a:xfrm rot="0">
              <a:off x="0" y="5668476"/>
              <a:ext cx="127000" cy="127000"/>
              <a:chOff x="0" y="0"/>
              <a:chExt cx="95250" cy="95250"/>
            </a:xfrm>
          </p:grpSpPr>
          <p:sp>
            <p:nvSpPr>
              <p:cNvPr name="Freeform 24" id="24"/>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25" id="25"/>
            <p:cNvGrpSpPr/>
            <p:nvPr/>
          </p:nvGrpSpPr>
          <p:grpSpPr>
            <a:xfrm rot="0">
              <a:off x="0" y="6163776"/>
              <a:ext cx="127000" cy="127000"/>
              <a:chOff x="0" y="0"/>
              <a:chExt cx="95250" cy="95250"/>
            </a:xfrm>
          </p:grpSpPr>
          <p:sp>
            <p:nvSpPr>
              <p:cNvPr name="Freeform 26" id="26"/>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27" id="27"/>
            <p:cNvGrpSpPr/>
            <p:nvPr/>
          </p:nvGrpSpPr>
          <p:grpSpPr>
            <a:xfrm rot="0">
              <a:off x="0" y="6659076"/>
              <a:ext cx="127000" cy="127000"/>
              <a:chOff x="0" y="0"/>
              <a:chExt cx="95250" cy="95250"/>
            </a:xfrm>
          </p:grpSpPr>
          <p:sp>
            <p:nvSpPr>
              <p:cNvPr name="Freeform 28" id="28"/>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29" id="29"/>
            <p:cNvGrpSpPr/>
            <p:nvPr/>
          </p:nvGrpSpPr>
          <p:grpSpPr>
            <a:xfrm rot="0">
              <a:off x="0" y="7154376"/>
              <a:ext cx="127000" cy="127000"/>
              <a:chOff x="0" y="0"/>
              <a:chExt cx="95250" cy="95250"/>
            </a:xfrm>
          </p:grpSpPr>
          <p:sp>
            <p:nvSpPr>
              <p:cNvPr name="Freeform 30" id="30"/>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31" id="31"/>
            <p:cNvGrpSpPr/>
            <p:nvPr/>
          </p:nvGrpSpPr>
          <p:grpSpPr>
            <a:xfrm rot="0">
              <a:off x="0" y="7649676"/>
              <a:ext cx="127000" cy="127000"/>
              <a:chOff x="0" y="0"/>
              <a:chExt cx="95250" cy="95250"/>
            </a:xfrm>
          </p:grpSpPr>
          <p:sp>
            <p:nvSpPr>
              <p:cNvPr name="Freeform 32" id="32"/>
              <p:cNvSpPr/>
              <p:nvPr/>
            </p:nvSpPr>
            <p:spPr>
              <a:xfrm flipH="false" flipV="false" rot="0">
                <a:off x="0" y="0"/>
                <a:ext cx="95377" cy="95250"/>
              </a:xfrm>
              <a:custGeom>
                <a:avLst/>
                <a:gdLst/>
                <a:ahLst/>
                <a:cxnLst/>
                <a:rect r="r" b="b" t="t" l="l"/>
                <a:pathLst>
                  <a:path h="95250" w="95377">
                    <a:moveTo>
                      <a:pt x="95250" y="47625"/>
                    </a:moveTo>
                    <a:cubicBezTo>
                      <a:pt x="95250" y="53975"/>
                      <a:pt x="93980" y="60071"/>
                      <a:pt x="91567" y="65786"/>
                    </a:cubicBezTo>
                    <a:cubicBezTo>
                      <a:pt x="89154" y="71501"/>
                      <a:pt x="85725" y="76708"/>
                      <a:pt x="81280" y="81280"/>
                    </a:cubicBezTo>
                    <a:cubicBezTo>
                      <a:pt x="76835" y="85852"/>
                      <a:pt x="71628" y="89154"/>
                      <a:pt x="65786" y="91567"/>
                    </a:cubicBezTo>
                    <a:cubicBezTo>
                      <a:pt x="59944" y="93980"/>
                      <a:pt x="53848" y="95250"/>
                      <a:pt x="47498" y="95250"/>
                    </a:cubicBezTo>
                    <a:cubicBezTo>
                      <a:pt x="41148" y="95250"/>
                      <a:pt x="35052" y="93980"/>
                      <a:pt x="29210" y="91567"/>
                    </a:cubicBezTo>
                    <a:cubicBezTo>
                      <a:pt x="23368" y="89154"/>
                      <a:pt x="18288" y="85725"/>
                      <a:pt x="13716" y="81280"/>
                    </a:cubicBezTo>
                    <a:cubicBezTo>
                      <a:pt x="9144" y="76835"/>
                      <a:pt x="6096" y="71628"/>
                      <a:pt x="3683" y="65786"/>
                    </a:cubicBezTo>
                    <a:cubicBezTo>
                      <a:pt x="1270" y="59944"/>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33" id="33"/>
            <p:cNvGrpSpPr/>
            <p:nvPr/>
          </p:nvGrpSpPr>
          <p:grpSpPr>
            <a:xfrm rot="0">
              <a:off x="0" y="8144976"/>
              <a:ext cx="127000" cy="127000"/>
              <a:chOff x="0" y="0"/>
              <a:chExt cx="95250" cy="95250"/>
            </a:xfrm>
          </p:grpSpPr>
          <p:sp>
            <p:nvSpPr>
              <p:cNvPr name="Freeform 34" id="34"/>
              <p:cNvSpPr/>
              <p:nvPr/>
            </p:nvSpPr>
            <p:spPr>
              <a:xfrm flipH="false" flipV="false" rot="0">
                <a:off x="0" y="0"/>
                <a:ext cx="95377" cy="95250"/>
              </a:xfrm>
              <a:custGeom>
                <a:avLst/>
                <a:gdLst/>
                <a:ahLst/>
                <a:cxnLst/>
                <a:rect r="r" b="b" t="t" l="l"/>
                <a:pathLst>
                  <a:path h="95250" w="95377">
                    <a:moveTo>
                      <a:pt x="95250" y="47625"/>
                    </a:moveTo>
                    <a:cubicBezTo>
                      <a:pt x="95250" y="53975"/>
                      <a:pt x="93980" y="60071"/>
                      <a:pt x="91567" y="65786"/>
                    </a:cubicBezTo>
                    <a:cubicBezTo>
                      <a:pt x="89154" y="71501"/>
                      <a:pt x="85725" y="76708"/>
                      <a:pt x="81280" y="81280"/>
                    </a:cubicBezTo>
                    <a:cubicBezTo>
                      <a:pt x="76835" y="85852"/>
                      <a:pt x="71628" y="89154"/>
                      <a:pt x="65786" y="91567"/>
                    </a:cubicBezTo>
                    <a:cubicBezTo>
                      <a:pt x="59944" y="93980"/>
                      <a:pt x="53848" y="95250"/>
                      <a:pt x="47498" y="95250"/>
                    </a:cubicBezTo>
                    <a:cubicBezTo>
                      <a:pt x="41148" y="95250"/>
                      <a:pt x="35052" y="93980"/>
                      <a:pt x="29210" y="91567"/>
                    </a:cubicBezTo>
                    <a:cubicBezTo>
                      <a:pt x="23368" y="89154"/>
                      <a:pt x="18288" y="85725"/>
                      <a:pt x="13716" y="81280"/>
                    </a:cubicBezTo>
                    <a:cubicBezTo>
                      <a:pt x="9144" y="76835"/>
                      <a:pt x="6096" y="71628"/>
                      <a:pt x="3683" y="65786"/>
                    </a:cubicBezTo>
                    <a:cubicBezTo>
                      <a:pt x="1270" y="59944"/>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35" id="35"/>
            <p:cNvGrpSpPr/>
            <p:nvPr/>
          </p:nvGrpSpPr>
          <p:grpSpPr>
            <a:xfrm rot="0">
              <a:off x="0" y="8640276"/>
              <a:ext cx="127000" cy="127000"/>
              <a:chOff x="0" y="0"/>
              <a:chExt cx="95250" cy="95250"/>
            </a:xfrm>
          </p:grpSpPr>
          <p:sp>
            <p:nvSpPr>
              <p:cNvPr name="Freeform 36" id="36"/>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37" id="37"/>
            <p:cNvGrpSpPr/>
            <p:nvPr/>
          </p:nvGrpSpPr>
          <p:grpSpPr>
            <a:xfrm rot="0">
              <a:off x="0" y="9135576"/>
              <a:ext cx="127000" cy="127000"/>
              <a:chOff x="0" y="0"/>
              <a:chExt cx="95250" cy="95250"/>
            </a:xfrm>
          </p:grpSpPr>
          <p:sp>
            <p:nvSpPr>
              <p:cNvPr name="Freeform 38" id="38"/>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grpSp>
          <p:nvGrpSpPr>
            <p:cNvPr name="Group 39" id="39"/>
            <p:cNvGrpSpPr/>
            <p:nvPr/>
          </p:nvGrpSpPr>
          <p:grpSpPr>
            <a:xfrm rot="0">
              <a:off x="0" y="9630876"/>
              <a:ext cx="127000" cy="127000"/>
              <a:chOff x="0" y="0"/>
              <a:chExt cx="95250" cy="95250"/>
            </a:xfrm>
          </p:grpSpPr>
          <p:sp>
            <p:nvSpPr>
              <p:cNvPr name="Freeform 40" id="40"/>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0000"/>
              </a:solidFill>
            </p:spPr>
          </p:sp>
        </p:grpSp>
        <p:sp>
          <p:nvSpPr>
            <p:cNvPr name="TextBox 41" id="41"/>
            <p:cNvSpPr txBox="true"/>
            <p:nvPr/>
          </p:nvSpPr>
          <p:spPr>
            <a:xfrm rot="0">
              <a:off x="8190878" y="38100"/>
              <a:ext cx="4465002" cy="767584"/>
            </a:xfrm>
            <a:prstGeom prst="rect">
              <a:avLst/>
            </a:prstGeom>
          </p:spPr>
          <p:txBody>
            <a:bodyPr anchor="t" rtlCol="false" tIns="0" lIns="0" bIns="0" rIns="0">
              <a:spAutoFit/>
            </a:bodyPr>
            <a:lstStyle/>
            <a:p>
              <a:pPr algn="l">
                <a:lnSpc>
                  <a:spcPts val="4391"/>
                </a:lnSpc>
              </a:pPr>
              <a:r>
                <a:rPr lang="en-US" b="true" sz="3999">
                  <a:solidFill>
                    <a:srgbClr val="C00000"/>
                  </a:solidFill>
                  <a:latin typeface="Canva Sans Bold"/>
                  <a:ea typeface="Canva Sans Bold"/>
                  <a:cs typeface="Canva Sans Bold"/>
                  <a:sym typeface="Canva Sans Bold"/>
                </a:rPr>
                <a:t>REFERENCES</a:t>
              </a:r>
            </a:p>
          </p:txBody>
        </p:sp>
        <p:sp>
          <p:nvSpPr>
            <p:cNvPr name="TextBox 42" id="42"/>
            <p:cNvSpPr txBox="true"/>
            <p:nvPr/>
          </p:nvSpPr>
          <p:spPr>
            <a:xfrm rot="0">
              <a:off x="8881847" y="752928"/>
              <a:ext cx="88913" cy="698284"/>
            </a:xfrm>
            <a:prstGeom prst="rect">
              <a:avLst/>
            </a:prstGeom>
          </p:spPr>
          <p:txBody>
            <a:bodyPr anchor="t" rtlCol="false" tIns="0" lIns="0" bIns="0" rIns="0">
              <a:spAutoFit/>
            </a:bodyPr>
            <a:lstStyle/>
            <a:p>
              <a:pPr algn="l">
                <a:lnSpc>
                  <a:spcPts val="5250"/>
                </a:lnSpc>
              </a:pPr>
              <a:r>
                <a:rPr lang="en-US" sz="2100">
                  <a:solidFill>
                    <a:srgbClr val="000000"/>
                  </a:solidFill>
                  <a:latin typeface="Canva Sans"/>
                  <a:ea typeface="Canva Sans"/>
                  <a:cs typeface="Canva Sans"/>
                  <a:sym typeface="Canva Sans"/>
                </a:rPr>
                <a:t> </a:t>
              </a:r>
            </a:p>
          </p:txBody>
        </p:sp>
        <p:sp>
          <p:nvSpPr>
            <p:cNvPr name="TextBox 43" id="43"/>
            <p:cNvSpPr txBox="true"/>
            <p:nvPr/>
          </p:nvSpPr>
          <p:spPr>
            <a:xfrm rot="0">
              <a:off x="325044" y="972003"/>
              <a:ext cx="22857409" cy="9394609"/>
            </a:xfrm>
            <a:prstGeom prst="rect">
              <a:avLst/>
            </a:prstGeom>
          </p:spPr>
          <p:txBody>
            <a:bodyPr anchor="t" rtlCol="false" tIns="0" lIns="0" bIns="0" rIns="0">
              <a:spAutoFit/>
            </a:bodyPr>
            <a:lstStyle/>
            <a:p>
              <a:pPr algn="l">
                <a:lnSpc>
                  <a:spcPts val="2925"/>
                </a:lnSpc>
              </a:pPr>
              <a:r>
                <a:rPr lang="en-US" sz="2100">
                  <a:solidFill>
                    <a:srgbClr val="000000"/>
                  </a:solidFill>
                  <a:latin typeface="Canva Sans"/>
                  <a:ea typeface="Canva Sans"/>
                  <a:cs typeface="Canva Sans"/>
                  <a:sym typeface="Canva Sans"/>
                </a:rPr>
                <a:t>D. L. Lappas, K. Liu, and E. Terzi, “Finding a team ofexpertsinsocial networks,” Proc. VLDB Endowment, vol. 2, no. 1, pp. 718–729, 2009. L. Li et al., “Enhancing team composition in professional networks: problem definitions and fast solutions,” IEEE Trans. Knowl. Data Eng., vol. 29, no. 3, pp. 613–626, 2016. T. N. Kipf and M. Welling, “Semi-Supervised Classification with Graph Convolutional Networks,” ICLR, 2017. P. Veličković et al., “Graph Attention Networks,” ICLR, 2018. B. Sarwar et al., “Item-based collaborative filtering recommendation algorithms,” Proc. WWW, 2001. G. Salton and C. Buckley, “Term-weighting approaches in automatic text retrieval,” Inf. Process. Manag., vol. 24, no. 5, pp. 513–523, 1988. X. Su and T. M. Khoshgoftaar, “A survey of collaborative filtering techniques,” Adv. Artif. Intell., 2009. G. L. Ciolfi et al., “Algorithmic team formation: models and techniques,” ACM Comput. Surv., 2021. J. Anagnostopoulos, R. Kumar, and M. Mahdian, “Influence and correlation in social networks,” Proc. ACM KDD, pp. 7–15, 2008. P. L. Yu, D. Zhang, and C. Li, “Team formation in online communities: models, algorithms and applications,” IEEE Access, 2020. A. Farasat and I. Nikolaev, “Capturing team social structure for improved team formation,” (Conference reference—verify venue). K. He et al., “Deep Residual Learning for Image Recognition,” Proc. IEEE CVPR, 2016. S. Rendle, “Factorization Machines,” Proc. IEEE ICDM, 2010. A. M. Rahman et al., “A survey of gamification techniques for online learning and engagement,” IEEE Access, 2021. E. J. Yeh, S. Rieffel, and M. Abreu, “Empirical studies on hackathon team formation and outcomes,” CHI Workshop / IEEE-style paper, 2019.</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DAHByhvaVI8</dc:identifier>
  <dcterms:modified xsi:type="dcterms:W3CDTF">2011-08-01T06:04:30Z</dcterms:modified>
  <cp:revision>1</cp:revision>
  <dc:title>TeamBuilders(PPT)(2026011586)_ICETEMS2026</dc:title>
</cp:coreProperties>
</file>